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9753600" cx="17475200"/>
  <p:notesSz cx="17475200" cy="9753600"/>
  <p:embeddedFontLst>
    <p:embeddedFont>
      <p:font typeface="EB Garamond"/>
      <p:regular r:id="rId23"/>
      <p:bold r:id="rId24"/>
      <p:italic r:id="rId25"/>
      <p:boldItalic r:id="rId26"/>
    </p:embeddedFont>
    <p:embeddedFont>
      <p:font typeface="Arial Black"/>
      <p:regular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DRGV7zCHSYlhH5he7oqgdM38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EBGaramond-bold.fntdata"/><Relationship Id="rId23" Type="http://schemas.openxmlformats.org/officeDocument/2006/relationships/font" Target="fonts/EB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boldItalic.fntdata"/><Relationship Id="rId25" Type="http://schemas.openxmlformats.org/officeDocument/2006/relationships/font" Target="fonts/EBGaramond-italic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1581415" y="2919706"/>
            <a:ext cx="12823500" cy="59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6250"/>
              <a:buFont typeface="Lucida Sans"/>
              <a:buNone/>
              <a:defRPr b="0" i="0" sz="6250">
                <a:solidFill>
                  <a:srgbClr val="24242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73760" y="2243328"/>
            <a:ext cx="7601700" cy="6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73075" lvl="0" marL="457200" algn="l">
              <a:spcBef>
                <a:spcPts val="1422"/>
              </a:spcBef>
              <a:spcAft>
                <a:spcPts val="0"/>
              </a:spcAft>
              <a:buSzPts val="2275"/>
              <a:buChar char="►"/>
              <a:defRPr/>
            </a:lvl1pPr>
            <a:lvl2pPr indent="-320040" lvl="1" marL="914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2" type="body"/>
          </p:nvPr>
        </p:nvSpPr>
        <p:spPr>
          <a:xfrm>
            <a:off x="8999728" y="2243328"/>
            <a:ext cx="7601700" cy="6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73075" lvl="0" marL="457200" algn="l">
              <a:spcBef>
                <a:spcPts val="1422"/>
              </a:spcBef>
              <a:spcAft>
                <a:spcPts val="0"/>
              </a:spcAft>
              <a:buSzPts val="2275"/>
              <a:buChar char="►"/>
              <a:defRPr/>
            </a:lvl1pPr>
            <a:lvl2pPr indent="-320040" lvl="1" marL="914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 b="0" i="0" sz="3982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type="ctrTitle"/>
          </p:nvPr>
        </p:nvSpPr>
        <p:spPr>
          <a:xfrm>
            <a:off x="1655435" y="2059094"/>
            <a:ext cx="12650100" cy="47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240"/>
              <a:buFont typeface="Century Gothic"/>
              <a:buNone/>
              <a:defRPr sz="1024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" type="subTitle"/>
          </p:nvPr>
        </p:nvSpPr>
        <p:spPr>
          <a:xfrm>
            <a:off x="1655435" y="6794496"/>
            <a:ext cx="126501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422"/>
              </a:spcBef>
              <a:spcAft>
                <a:spcPts val="0"/>
              </a:spcAft>
              <a:buSzPts val="2275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422"/>
              </a:spcBef>
              <a:spcAft>
                <a:spcPts val="0"/>
              </a:spcAft>
              <a:buSzPts val="2048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422"/>
              </a:spcBef>
              <a:spcAft>
                <a:spcPts val="0"/>
              </a:spcAft>
              <a:buSzPts val="1821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422"/>
              </a:spcBef>
              <a:spcAft>
                <a:spcPts val="0"/>
              </a:spcAft>
              <a:buSzPts val="159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422"/>
              </a:spcBef>
              <a:spcAft>
                <a:spcPts val="0"/>
              </a:spcAft>
              <a:buSzPts val="159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422"/>
              </a:spcBef>
              <a:spcAft>
                <a:spcPts val="0"/>
              </a:spcAft>
              <a:buSzPts val="159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422"/>
              </a:spcBef>
              <a:spcAft>
                <a:spcPts val="0"/>
              </a:spcAft>
              <a:buSzPts val="159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422"/>
              </a:spcBef>
              <a:spcAft>
                <a:spcPts val="0"/>
              </a:spcAft>
              <a:buSzPts val="159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422"/>
              </a:spcBef>
              <a:spcAft>
                <a:spcPts val="0"/>
              </a:spcAft>
              <a:buSzPts val="159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1655438" y="4070021"/>
            <a:ext cx="12650100" cy="27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89"/>
              <a:buFont typeface="Century Gothic"/>
              <a:buNone/>
              <a:defRPr b="0" sz="5689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1655435" y="6794497"/>
            <a:ext cx="126501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275"/>
              <a:buNone/>
              <a:defRPr sz="2844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048"/>
              <a:buNone/>
              <a:defRPr sz="256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sz="2276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22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1581415" y="2930596"/>
            <a:ext cx="6301500" cy="59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648" lvl="0" marL="457200" algn="l">
              <a:spcBef>
                <a:spcPts val="1422"/>
              </a:spcBef>
              <a:spcAft>
                <a:spcPts val="0"/>
              </a:spcAft>
              <a:buSzPts val="2048"/>
              <a:buChar char="►"/>
              <a:defRPr sz="2560"/>
            </a:lvl1pPr>
            <a:lvl2pPr indent="-344221" lvl="1" marL="914400" algn="l">
              <a:spcBef>
                <a:spcPts val="1422"/>
              </a:spcBef>
              <a:spcAft>
                <a:spcPts val="0"/>
              </a:spcAft>
              <a:buSzPts val="1821"/>
              <a:buChar char="►"/>
              <a:defRPr sz="2276"/>
            </a:lvl2pPr>
            <a:lvl3pPr indent="-329743" lvl="2" marL="13716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3pPr>
            <a:lvl4pPr indent="-315316" lvl="3" marL="1828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4pPr>
            <a:lvl5pPr indent="-315316" lvl="4" marL="22860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5pPr>
            <a:lvl6pPr indent="-315316" lvl="5" marL="27432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6pPr>
            <a:lvl7pPr indent="-315316" lvl="6" marL="32004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7pPr>
            <a:lvl8pPr indent="-315316" lvl="7" marL="36576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8pPr>
            <a:lvl9pPr indent="-315316" lvl="8" marL="4114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8104774" y="2924220"/>
            <a:ext cx="6301500" cy="5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648" lvl="0" marL="457200" algn="l">
              <a:spcBef>
                <a:spcPts val="1422"/>
              </a:spcBef>
              <a:spcAft>
                <a:spcPts val="0"/>
              </a:spcAft>
              <a:buSzPts val="2048"/>
              <a:buChar char="►"/>
              <a:defRPr sz="2560"/>
            </a:lvl1pPr>
            <a:lvl2pPr indent="-344221" lvl="1" marL="914400" algn="l">
              <a:spcBef>
                <a:spcPts val="1422"/>
              </a:spcBef>
              <a:spcAft>
                <a:spcPts val="0"/>
              </a:spcAft>
              <a:buSzPts val="1821"/>
              <a:buChar char="►"/>
              <a:defRPr sz="2276"/>
            </a:lvl2pPr>
            <a:lvl3pPr indent="-329743" lvl="2" marL="13716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3pPr>
            <a:lvl4pPr indent="-315316" lvl="3" marL="1828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4pPr>
            <a:lvl5pPr indent="-315316" lvl="4" marL="22860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5pPr>
            <a:lvl6pPr indent="-315316" lvl="5" marL="27432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6pPr>
            <a:lvl7pPr indent="-315316" lvl="6" marL="32004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7pPr>
            <a:lvl8pPr indent="-315316" lvl="7" marL="36576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8pPr>
            <a:lvl9pPr indent="-315316" lvl="8" marL="4114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73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1581415" y="2709333"/>
            <a:ext cx="63015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52" name="Google Shape;52;p24"/>
          <p:cNvSpPr txBox="1"/>
          <p:nvPr>
            <p:ph idx="2" type="body"/>
          </p:nvPr>
        </p:nvSpPr>
        <p:spPr>
          <a:xfrm>
            <a:off x="1581415" y="3576320"/>
            <a:ext cx="6301500" cy="5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648" lvl="0" marL="457200" algn="l">
              <a:spcBef>
                <a:spcPts val="1422"/>
              </a:spcBef>
              <a:spcAft>
                <a:spcPts val="0"/>
              </a:spcAft>
              <a:buSzPts val="2048"/>
              <a:buChar char="►"/>
              <a:defRPr sz="2560"/>
            </a:lvl1pPr>
            <a:lvl2pPr indent="-344221" lvl="1" marL="914400" algn="l">
              <a:spcBef>
                <a:spcPts val="1422"/>
              </a:spcBef>
              <a:spcAft>
                <a:spcPts val="0"/>
              </a:spcAft>
              <a:buSzPts val="1821"/>
              <a:buChar char="►"/>
              <a:defRPr sz="2276"/>
            </a:lvl2pPr>
            <a:lvl3pPr indent="-329743" lvl="2" marL="13716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3pPr>
            <a:lvl4pPr indent="-315316" lvl="3" marL="1828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4pPr>
            <a:lvl5pPr indent="-315316" lvl="4" marL="22860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5pPr>
            <a:lvl6pPr indent="-315316" lvl="5" marL="27432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6pPr>
            <a:lvl7pPr indent="-315316" lvl="6" marL="32004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7pPr>
            <a:lvl8pPr indent="-315316" lvl="7" marL="36576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8pPr>
            <a:lvl9pPr indent="-315316" lvl="8" marL="4114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9pPr>
          </a:lstStyle>
          <a:p/>
        </p:txBody>
      </p:sp>
      <p:sp>
        <p:nvSpPr>
          <p:cNvPr id="53" name="Google Shape;53;p24"/>
          <p:cNvSpPr txBox="1"/>
          <p:nvPr>
            <p:ph idx="3" type="body"/>
          </p:nvPr>
        </p:nvSpPr>
        <p:spPr>
          <a:xfrm>
            <a:off x="8104777" y="2709333"/>
            <a:ext cx="63015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54" name="Google Shape;54;p24"/>
          <p:cNvSpPr txBox="1"/>
          <p:nvPr>
            <p:ph idx="4" type="body"/>
          </p:nvPr>
        </p:nvSpPr>
        <p:spPr>
          <a:xfrm>
            <a:off x="8104777" y="3576320"/>
            <a:ext cx="6301500" cy="5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648" lvl="0" marL="457200" algn="l">
              <a:spcBef>
                <a:spcPts val="1422"/>
              </a:spcBef>
              <a:spcAft>
                <a:spcPts val="0"/>
              </a:spcAft>
              <a:buSzPts val="2048"/>
              <a:buChar char="►"/>
              <a:defRPr sz="2560"/>
            </a:lvl1pPr>
            <a:lvl2pPr indent="-344221" lvl="1" marL="914400" algn="l">
              <a:spcBef>
                <a:spcPts val="1422"/>
              </a:spcBef>
              <a:spcAft>
                <a:spcPts val="0"/>
              </a:spcAft>
              <a:buSzPts val="1821"/>
              <a:buChar char="►"/>
              <a:defRPr sz="2276"/>
            </a:lvl2pPr>
            <a:lvl3pPr indent="-329743" lvl="2" marL="13716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3pPr>
            <a:lvl4pPr indent="-315316" lvl="3" marL="1828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4pPr>
            <a:lvl5pPr indent="-315316" lvl="4" marL="22860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5pPr>
            <a:lvl6pPr indent="-315316" lvl="5" marL="27432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6pPr>
            <a:lvl7pPr indent="-315316" lvl="6" marL="32004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7pPr>
            <a:lvl8pPr indent="-315316" lvl="7" marL="36576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8pPr>
            <a:lvl9pPr indent="-315316" lvl="8" marL="4114800" algn="l">
              <a:spcBef>
                <a:spcPts val="1422"/>
              </a:spcBef>
              <a:spcAft>
                <a:spcPts val="0"/>
              </a:spcAft>
              <a:buSzPts val="1366"/>
              <a:buChar char="►"/>
              <a:defRPr sz="1707"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1655433" y="2059094"/>
            <a:ext cx="4875000" cy="205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13"/>
              <a:buFont typeface="Century Gothic"/>
              <a:buNone/>
              <a:defRPr b="0" sz="3413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6857950" y="2059093"/>
            <a:ext cx="7447500" cy="6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3075" lvl="0" marL="457200" algn="l">
              <a:spcBef>
                <a:spcPts val="1422"/>
              </a:spcBef>
              <a:spcAft>
                <a:spcPts val="0"/>
              </a:spcAft>
              <a:buSzPts val="2275"/>
              <a:buChar char="►"/>
              <a:defRPr sz="2844"/>
            </a:lvl1pPr>
            <a:lvl2pPr indent="-358648" lvl="1" marL="914400" algn="l">
              <a:spcBef>
                <a:spcPts val="1422"/>
              </a:spcBef>
              <a:spcAft>
                <a:spcPts val="0"/>
              </a:spcAft>
              <a:buSzPts val="2048"/>
              <a:buChar char="►"/>
              <a:defRPr sz="2560"/>
            </a:lvl2pPr>
            <a:lvl3pPr indent="-344221" lvl="2" marL="1371600" algn="l">
              <a:spcBef>
                <a:spcPts val="1422"/>
              </a:spcBef>
              <a:spcAft>
                <a:spcPts val="0"/>
              </a:spcAft>
              <a:buSzPts val="1821"/>
              <a:buChar char="►"/>
              <a:defRPr sz="2276"/>
            </a:lvl3pPr>
            <a:lvl4pPr indent="-329743" lvl="3" marL="18288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4pPr>
            <a:lvl5pPr indent="-329743" lvl="4" marL="22860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5pPr>
            <a:lvl6pPr indent="-329743" lvl="5" marL="27432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6pPr>
            <a:lvl7pPr indent="-329743" lvl="6" marL="32004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7pPr>
            <a:lvl8pPr indent="-329743" lvl="7" marL="36576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8pPr>
            <a:lvl9pPr indent="-329743" lvl="8" marL="4114800" algn="l">
              <a:spcBef>
                <a:spcPts val="1422"/>
              </a:spcBef>
              <a:spcAft>
                <a:spcPts val="0"/>
              </a:spcAft>
              <a:buSzPts val="1593"/>
              <a:buChar char="►"/>
              <a:defRPr sz="1991"/>
            </a:lvl9pPr>
          </a:lstStyle>
          <a:p/>
        </p:txBody>
      </p:sp>
      <p:sp>
        <p:nvSpPr>
          <p:cNvPr id="70" name="Google Shape;70;p27"/>
          <p:cNvSpPr txBox="1"/>
          <p:nvPr>
            <p:ph idx="2" type="body"/>
          </p:nvPr>
        </p:nvSpPr>
        <p:spPr>
          <a:xfrm>
            <a:off x="1655433" y="4450532"/>
            <a:ext cx="4875000" cy="4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1653933" y="2637073"/>
            <a:ext cx="72999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20"/>
              <a:buFont typeface="Century Gothic"/>
              <a:buNone/>
              <a:defRPr b="0" sz="512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/>
          <p:nvPr>
            <p:ph idx="2" type="pic"/>
          </p:nvPr>
        </p:nvSpPr>
        <p:spPr>
          <a:xfrm>
            <a:off x="9961016" y="1625600"/>
            <a:ext cx="4587300" cy="6502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40"/>
              </a:srgbClr>
            </a:outerShdw>
          </a:effectLst>
        </p:spPr>
      </p:sp>
      <p:sp>
        <p:nvSpPr>
          <p:cNvPr id="77" name="Google Shape;77;p28"/>
          <p:cNvSpPr txBox="1"/>
          <p:nvPr>
            <p:ph idx="1" type="body"/>
          </p:nvPr>
        </p:nvSpPr>
        <p:spPr>
          <a:xfrm>
            <a:off x="1655435" y="5201920"/>
            <a:ext cx="7288500" cy="19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78" name="Google Shape;78;p28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1655438" y="6827502"/>
            <a:ext cx="126501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13"/>
              <a:buFont typeface="Century Gothic"/>
              <a:buNone/>
              <a:defRPr b="0" sz="3413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/>
          <p:nvPr>
            <p:ph idx="2" type="pic"/>
          </p:nvPr>
        </p:nvSpPr>
        <p:spPr>
          <a:xfrm>
            <a:off x="1655435" y="975360"/>
            <a:ext cx="12650100" cy="51777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40"/>
              </a:srgbClr>
            </a:outerShdw>
          </a:effectLst>
        </p:spPr>
      </p:sp>
      <p:sp>
        <p:nvSpPr>
          <p:cNvPr id="84" name="Google Shape;84;p29"/>
          <p:cNvSpPr txBox="1"/>
          <p:nvPr>
            <p:ph idx="1" type="body"/>
          </p:nvPr>
        </p:nvSpPr>
        <p:spPr>
          <a:xfrm>
            <a:off x="1655437" y="7633529"/>
            <a:ext cx="126501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85" name="Google Shape;85;p29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/>
          <p:nvPr>
            <p:ph type="title"/>
          </p:nvPr>
        </p:nvSpPr>
        <p:spPr>
          <a:xfrm>
            <a:off x="1655435" y="2059093"/>
            <a:ext cx="12650100" cy="28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827"/>
              <a:buFont typeface="Century Gothic"/>
              <a:buNone/>
              <a:defRPr sz="6827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" type="body"/>
          </p:nvPr>
        </p:nvSpPr>
        <p:spPr>
          <a:xfrm>
            <a:off x="1655435" y="5201920"/>
            <a:ext cx="12650100" cy="3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048"/>
              <a:buNone/>
              <a:defRPr sz="2560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91" name="Google Shape;91;p30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/>
          <p:nvPr>
            <p:ph type="title"/>
          </p:nvPr>
        </p:nvSpPr>
        <p:spPr>
          <a:xfrm>
            <a:off x="2257215" y="2059093"/>
            <a:ext cx="11465700" cy="3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827"/>
              <a:buFont typeface="Century Gothic"/>
              <a:buNone/>
              <a:defRPr sz="6827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" type="body"/>
          </p:nvPr>
        </p:nvSpPr>
        <p:spPr>
          <a:xfrm>
            <a:off x="2766907" y="5363448"/>
            <a:ext cx="10434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b="0" i="0" sz="1991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97" name="Google Shape;97;p31"/>
          <p:cNvSpPr txBox="1"/>
          <p:nvPr>
            <p:ph idx="2" type="body"/>
          </p:nvPr>
        </p:nvSpPr>
        <p:spPr>
          <a:xfrm>
            <a:off x="1655435" y="6187601"/>
            <a:ext cx="12650100" cy="23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048"/>
              <a:buNone/>
              <a:defRPr sz="2560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98" name="Google Shape;98;p31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01" name="Google Shape;101;p31"/>
          <p:cNvSpPr txBox="1"/>
          <p:nvPr/>
        </p:nvSpPr>
        <p:spPr>
          <a:xfrm>
            <a:off x="1287556" y="1381339"/>
            <a:ext cx="11493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7351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2" name="Google Shape;102;p31"/>
          <p:cNvSpPr txBox="1"/>
          <p:nvPr/>
        </p:nvSpPr>
        <p:spPr>
          <a:xfrm>
            <a:off x="13373702" y="3717387"/>
            <a:ext cx="11493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7351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2"/>
          <p:cNvSpPr txBox="1"/>
          <p:nvPr>
            <p:ph type="title"/>
          </p:nvPr>
        </p:nvSpPr>
        <p:spPr>
          <a:xfrm>
            <a:off x="1655434" y="4443308"/>
            <a:ext cx="12650100" cy="23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89"/>
              <a:buFont typeface="Century Gothic"/>
              <a:buNone/>
              <a:defRPr b="0" sz="5689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" type="body"/>
          </p:nvPr>
        </p:nvSpPr>
        <p:spPr>
          <a:xfrm>
            <a:off x="1655435" y="6794497"/>
            <a:ext cx="126501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275"/>
              <a:buNone/>
              <a:defRPr sz="2844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048"/>
              <a:buNone/>
              <a:defRPr sz="256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sz="2276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32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3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73"/>
              <a:buFont typeface="Century Gothic"/>
              <a:buNone/>
              <a:defRPr sz="5973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1" type="body"/>
          </p:nvPr>
        </p:nvSpPr>
        <p:spPr>
          <a:xfrm>
            <a:off x="907224" y="2817706"/>
            <a:ext cx="42237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112" name="Google Shape;112;p33"/>
          <p:cNvSpPr txBox="1"/>
          <p:nvPr>
            <p:ph idx="2" type="body"/>
          </p:nvPr>
        </p:nvSpPr>
        <p:spPr>
          <a:xfrm>
            <a:off x="935197" y="3793067"/>
            <a:ext cx="4195800" cy="51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113" name="Google Shape;113;p33"/>
          <p:cNvSpPr txBox="1"/>
          <p:nvPr>
            <p:ph idx="3" type="body"/>
          </p:nvPr>
        </p:nvSpPr>
        <p:spPr>
          <a:xfrm>
            <a:off x="5566579" y="2817706"/>
            <a:ext cx="42087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114" name="Google Shape;114;p33"/>
          <p:cNvSpPr txBox="1"/>
          <p:nvPr>
            <p:ph idx="4" type="body"/>
          </p:nvPr>
        </p:nvSpPr>
        <p:spPr>
          <a:xfrm>
            <a:off x="5551452" y="3793067"/>
            <a:ext cx="4223700" cy="51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115" name="Google Shape;115;p33"/>
          <p:cNvSpPr txBox="1"/>
          <p:nvPr>
            <p:ph idx="5" type="body"/>
          </p:nvPr>
        </p:nvSpPr>
        <p:spPr>
          <a:xfrm>
            <a:off x="10212071" y="2817706"/>
            <a:ext cx="42027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116" name="Google Shape;116;p33"/>
          <p:cNvSpPr txBox="1"/>
          <p:nvPr>
            <p:ph idx="6" type="body"/>
          </p:nvPr>
        </p:nvSpPr>
        <p:spPr>
          <a:xfrm>
            <a:off x="10212071" y="3793067"/>
            <a:ext cx="4202700" cy="51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cxnSp>
        <p:nvCxnSpPr>
          <p:cNvPr id="117" name="Google Shape;117;p33"/>
          <p:cNvCxnSpPr/>
          <p:nvPr/>
        </p:nvCxnSpPr>
        <p:spPr>
          <a:xfrm>
            <a:off x="5340804" y="3034454"/>
            <a:ext cx="0" cy="56355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33"/>
          <p:cNvCxnSpPr/>
          <p:nvPr/>
        </p:nvCxnSpPr>
        <p:spPr>
          <a:xfrm>
            <a:off x="9979192" y="3034453"/>
            <a:ext cx="0" cy="56418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3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73"/>
              <a:buFont typeface="Century Gothic"/>
              <a:buNone/>
              <a:defRPr sz="5973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4"/>
          <p:cNvSpPr txBox="1"/>
          <p:nvPr>
            <p:ph idx="1" type="body"/>
          </p:nvPr>
        </p:nvSpPr>
        <p:spPr>
          <a:xfrm>
            <a:off x="935197" y="6045794"/>
            <a:ext cx="42141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125" name="Google Shape;125;p34"/>
          <p:cNvSpPr/>
          <p:nvPr>
            <p:ph idx="2" type="pic"/>
          </p:nvPr>
        </p:nvSpPr>
        <p:spPr>
          <a:xfrm>
            <a:off x="935197" y="3142827"/>
            <a:ext cx="4214100" cy="2167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40"/>
              </a:srgbClr>
            </a:outerShdw>
          </a:effectLst>
        </p:spPr>
      </p:sp>
      <p:sp>
        <p:nvSpPr>
          <p:cNvPr id="126" name="Google Shape;126;p34"/>
          <p:cNvSpPr txBox="1"/>
          <p:nvPr>
            <p:ph idx="3" type="body"/>
          </p:nvPr>
        </p:nvSpPr>
        <p:spPr>
          <a:xfrm>
            <a:off x="935197" y="6865368"/>
            <a:ext cx="42141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127" name="Google Shape;127;p34"/>
          <p:cNvSpPr txBox="1"/>
          <p:nvPr>
            <p:ph idx="4" type="body"/>
          </p:nvPr>
        </p:nvSpPr>
        <p:spPr>
          <a:xfrm>
            <a:off x="5574772" y="6045794"/>
            <a:ext cx="42003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128" name="Google Shape;128;p34"/>
          <p:cNvSpPr/>
          <p:nvPr>
            <p:ph idx="5" type="pic"/>
          </p:nvPr>
        </p:nvSpPr>
        <p:spPr>
          <a:xfrm>
            <a:off x="5574770" y="3142827"/>
            <a:ext cx="4200300" cy="2167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40"/>
              </a:srgbClr>
            </a:outerShdw>
          </a:effectLst>
        </p:spPr>
      </p:sp>
      <p:sp>
        <p:nvSpPr>
          <p:cNvPr id="129" name="Google Shape;129;p34"/>
          <p:cNvSpPr txBox="1"/>
          <p:nvPr>
            <p:ph idx="6" type="body"/>
          </p:nvPr>
        </p:nvSpPr>
        <p:spPr>
          <a:xfrm>
            <a:off x="5572832" y="6865366"/>
            <a:ext cx="42060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sp>
        <p:nvSpPr>
          <p:cNvPr id="130" name="Google Shape;130;p34"/>
          <p:cNvSpPr txBox="1"/>
          <p:nvPr>
            <p:ph idx="7" type="body"/>
          </p:nvPr>
        </p:nvSpPr>
        <p:spPr>
          <a:xfrm>
            <a:off x="10212071" y="6045794"/>
            <a:ext cx="42027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2730"/>
              <a:buNone/>
              <a:defRPr b="0" sz="3413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2275"/>
              <a:buNone/>
              <a:defRPr b="1" sz="2844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2048"/>
              <a:buNone/>
              <a:defRPr b="1" sz="2560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821"/>
              <a:buNone/>
              <a:defRPr b="1" sz="2276"/>
            </a:lvl9pPr>
          </a:lstStyle>
          <a:p/>
        </p:txBody>
      </p:sp>
      <p:sp>
        <p:nvSpPr>
          <p:cNvPr id="131" name="Google Shape;131;p34"/>
          <p:cNvSpPr/>
          <p:nvPr>
            <p:ph idx="8" type="pic"/>
          </p:nvPr>
        </p:nvSpPr>
        <p:spPr>
          <a:xfrm>
            <a:off x="10212069" y="3142827"/>
            <a:ext cx="4202700" cy="2167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40"/>
              </a:srgbClr>
            </a:outerShdw>
          </a:effectLst>
        </p:spPr>
      </p:sp>
      <p:sp>
        <p:nvSpPr>
          <p:cNvPr id="132" name="Google Shape;132;p34"/>
          <p:cNvSpPr txBox="1"/>
          <p:nvPr>
            <p:ph idx="9" type="body"/>
          </p:nvPr>
        </p:nvSpPr>
        <p:spPr>
          <a:xfrm>
            <a:off x="10211892" y="6865363"/>
            <a:ext cx="4208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22"/>
              </a:spcBef>
              <a:spcAft>
                <a:spcPts val="0"/>
              </a:spcAft>
              <a:buSzPts val="1593"/>
              <a:buNone/>
              <a:defRPr sz="1991"/>
            </a:lvl1pPr>
            <a:lvl2pPr indent="-228600" lvl="1" marL="914400" algn="l">
              <a:spcBef>
                <a:spcPts val="1422"/>
              </a:spcBef>
              <a:spcAft>
                <a:spcPts val="0"/>
              </a:spcAft>
              <a:buSzPts val="1366"/>
              <a:buNone/>
              <a:defRPr sz="1707"/>
            </a:lvl2pPr>
            <a:lvl3pPr indent="-228600" lvl="2" marL="1371600" algn="l">
              <a:spcBef>
                <a:spcPts val="1422"/>
              </a:spcBef>
              <a:spcAft>
                <a:spcPts val="0"/>
              </a:spcAft>
              <a:buSzPts val="1138"/>
              <a:buNone/>
              <a:defRPr sz="1422"/>
            </a:lvl3pPr>
            <a:lvl4pPr indent="-228600" lvl="3" marL="1828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4pPr>
            <a:lvl5pPr indent="-228600" lvl="4" marL="22860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5pPr>
            <a:lvl6pPr indent="-228600" lvl="5" marL="27432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6pPr>
            <a:lvl7pPr indent="-228600" lvl="6" marL="32004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7pPr>
            <a:lvl8pPr indent="-228600" lvl="7" marL="36576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8pPr>
            <a:lvl9pPr indent="-228600" lvl="8" marL="4114800" algn="l">
              <a:spcBef>
                <a:spcPts val="1422"/>
              </a:spcBef>
              <a:spcAft>
                <a:spcPts val="0"/>
              </a:spcAft>
              <a:buSzPts val="1024"/>
              <a:buNone/>
              <a:defRPr sz="1280"/>
            </a:lvl9pPr>
          </a:lstStyle>
          <a:p/>
        </p:txBody>
      </p:sp>
      <p:cxnSp>
        <p:nvCxnSpPr>
          <p:cNvPr id="133" name="Google Shape;133;p34"/>
          <p:cNvCxnSpPr/>
          <p:nvPr/>
        </p:nvCxnSpPr>
        <p:spPr>
          <a:xfrm>
            <a:off x="5340804" y="3034454"/>
            <a:ext cx="0" cy="56355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34"/>
          <p:cNvCxnSpPr/>
          <p:nvPr/>
        </p:nvCxnSpPr>
        <p:spPr>
          <a:xfrm>
            <a:off x="9979192" y="3034453"/>
            <a:ext cx="0" cy="56418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34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 rot="5400000">
            <a:off x="5009540" y="-508544"/>
            <a:ext cx="5967000" cy="12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/>
          <p:nvPr>
            <p:ph type="title"/>
          </p:nvPr>
        </p:nvSpPr>
        <p:spPr>
          <a:xfrm rot="5400000">
            <a:off x="9015666" y="3498759"/>
            <a:ext cx="8286000" cy="251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6"/>
          <p:cNvSpPr txBox="1"/>
          <p:nvPr>
            <p:ph idx="1" type="body"/>
          </p:nvPr>
        </p:nvSpPr>
        <p:spPr>
          <a:xfrm rot="5400000">
            <a:off x="2437195" y="-239850"/>
            <a:ext cx="7635900" cy="10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42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7.xml"/><Relationship Id="rId23" Type="http://schemas.openxmlformats.org/officeDocument/2006/relationships/slideLayout" Target="../slideLayouts/slideLayout18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8"/>
          <p:cNvPicPr preferRelativeResize="0"/>
          <p:nvPr/>
        </p:nvPicPr>
        <p:blipFill rotWithShape="1">
          <a:blip r:embed="rId2">
            <a:alphaModFix/>
          </a:blip>
          <a:srcRect b="0" l="3614" r="0" t="0"/>
          <a:stretch/>
        </p:blipFill>
        <p:spPr>
          <a:xfrm>
            <a:off x="0" y="3796886"/>
            <a:ext cx="5786385" cy="5956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8"/>
          <p:cNvPicPr preferRelativeResize="0"/>
          <p:nvPr/>
        </p:nvPicPr>
        <p:blipFill rotWithShape="1">
          <a:blip r:embed="rId3">
            <a:alphaModFix/>
          </a:blip>
          <a:srcRect b="0" l="35642" r="0" t="0"/>
          <a:stretch/>
        </p:blipFill>
        <p:spPr>
          <a:xfrm>
            <a:off x="0" y="4113561"/>
            <a:ext cx="2182124" cy="33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8"/>
          <p:cNvSpPr/>
          <p:nvPr/>
        </p:nvSpPr>
        <p:spPr>
          <a:xfrm>
            <a:off x="12339584" y="2384214"/>
            <a:ext cx="4041000" cy="4009800"/>
          </a:xfrm>
          <a:prstGeom prst="ellipse">
            <a:avLst/>
          </a:prstGeom>
          <a:gradFill>
            <a:gsLst>
              <a:gs pos="0">
                <a:srgbClr val="4CB9C3">
                  <a:alpha val="7058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8"/>
          <p:cNvPicPr preferRelativeResize="0"/>
          <p:nvPr/>
        </p:nvPicPr>
        <p:blipFill rotWithShape="1">
          <a:blip r:embed="rId4">
            <a:alphaModFix/>
          </a:blip>
          <a:srcRect b="0" l="0" r="0" t="28815"/>
          <a:stretch/>
        </p:blipFill>
        <p:spPr>
          <a:xfrm>
            <a:off x="11465825" y="1"/>
            <a:ext cx="2298188" cy="1623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8"/>
          <p:cNvPicPr preferRelativeResize="0"/>
          <p:nvPr/>
        </p:nvPicPr>
        <p:blipFill rotWithShape="1">
          <a:blip r:embed="rId5">
            <a:alphaModFix/>
          </a:blip>
          <a:srcRect b="23319" l="0" r="0" t="0"/>
          <a:stretch/>
        </p:blipFill>
        <p:spPr>
          <a:xfrm>
            <a:off x="12335092" y="8669867"/>
            <a:ext cx="1424352" cy="10837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8"/>
          <p:cNvSpPr/>
          <p:nvPr/>
        </p:nvSpPr>
        <p:spPr>
          <a:xfrm>
            <a:off x="14960864" y="0"/>
            <a:ext cx="983100" cy="1625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8"/>
          <p:cNvSpPr txBox="1"/>
          <p:nvPr>
            <p:ph type="title"/>
          </p:nvPr>
        </p:nvSpPr>
        <p:spPr>
          <a:xfrm>
            <a:off x="926093" y="643866"/>
            <a:ext cx="13480200" cy="19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73"/>
              <a:buFont typeface="Century Gothic"/>
              <a:buNone/>
              <a:defRPr b="0" i="0" sz="5973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1581415" y="2919706"/>
            <a:ext cx="12823500" cy="59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075" lvl="0" marL="4572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2275"/>
              <a:buFont typeface="Noto Sans Symbols"/>
              <a:buChar char="►"/>
              <a:defRPr b="0" i="0" sz="2844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8648" lvl="1" marL="9144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2048"/>
              <a:buFont typeface="Noto Sans Symbols"/>
              <a:buChar char="►"/>
              <a:defRPr b="0" i="0" sz="256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4221" lvl="2" marL="13716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821"/>
              <a:buFont typeface="Noto Sans Symbols"/>
              <a:buChar char="►"/>
              <a:defRPr b="0" i="0" sz="227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9743" lvl="3" marL="18288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593"/>
              <a:buFont typeface="Noto Sans Symbols"/>
              <a:buChar char="►"/>
              <a:defRPr b="0" i="0" sz="199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9743" lvl="4" marL="22860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593"/>
              <a:buFont typeface="Noto Sans Symbols"/>
              <a:buChar char="►"/>
              <a:defRPr b="0" i="0" sz="199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29743" lvl="5" marL="27432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593"/>
              <a:buFont typeface="Noto Sans Symbols"/>
              <a:buChar char="►"/>
              <a:defRPr b="0" i="0" sz="199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29743" lvl="6" marL="32004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593"/>
              <a:buFont typeface="Noto Sans Symbols"/>
              <a:buChar char="►"/>
              <a:defRPr b="0" i="0" sz="199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29743" lvl="7" marL="36576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593"/>
              <a:buFont typeface="Noto Sans Symbols"/>
              <a:buChar char="►"/>
              <a:defRPr b="0" i="0" sz="199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29743" lvl="8" marL="4114800" marR="0" algn="l">
              <a:spcBef>
                <a:spcPts val="1422"/>
              </a:spcBef>
              <a:spcAft>
                <a:spcPts val="0"/>
              </a:spcAft>
              <a:buClr>
                <a:srgbClr val="86D1D8"/>
              </a:buClr>
              <a:buSzPts val="1593"/>
              <a:buFont typeface="Noto Sans Symbols"/>
              <a:buChar char="►"/>
              <a:defRPr b="0" i="0" sz="199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 rot="5400000">
            <a:off x="14561986" y="2545096"/>
            <a:ext cx="140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64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 rot="5400000">
            <a:off x="12852116" y="4585395"/>
            <a:ext cx="5489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64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14838641" y="420593"/>
            <a:ext cx="120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3982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9.jpg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jpg"/><Relationship Id="rId4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g"/><Relationship Id="rId4" Type="http://schemas.openxmlformats.org/officeDocument/2006/relationships/image" Target="../media/image22.jpg"/><Relationship Id="rId5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jpg"/><Relationship Id="rId10" Type="http://schemas.openxmlformats.org/officeDocument/2006/relationships/image" Target="../media/image31.jpg"/><Relationship Id="rId12" Type="http://schemas.openxmlformats.org/officeDocument/2006/relationships/image" Target="../media/image2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35.jpg"/><Relationship Id="rId9" Type="http://schemas.openxmlformats.org/officeDocument/2006/relationships/image" Target="../media/image23.jpg"/><Relationship Id="rId5" Type="http://schemas.openxmlformats.org/officeDocument/2006/relationships/image" Target="../media/image14.jpg"/><Relationship Id="rId6" Type="http://schemas.openxmlformats.org/officeDocument/2006/relationships/image" Target="../media/image21.jpg"/><Relationship Id="rId7" Type="http://schemas.openxmlformats.org/officeDocument/2006/relationships/image" Target="../media/image28.jpg"/><Relationship Id="rId8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4" name="Google Shape;154;p1"/>
          <p:cNvSpPr txBox="1"/>
          <p:nvPr>
            <p:ph type="title"/>
          </p:nvPr>
        </p:nvSpPr>
        <p:spPr>
          <a:xfrm>
            <a:off x="2191682" y="381000"/>
            <a:ext cx="140880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Font typeface="EB Garamond"/>
              <a:buNone/>
            </a:pPr>
            <a:r>
              <a:rPr b="1" lang="es-AR" sz="5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RESOLUCION DE CONFLICTOS</a:t>
            </a:r>
            <a:br>
              <a:rPr b="1" lang="es-AR" sz="5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s-AR" sz="5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ESTRATEGIAS  Y HERRAMIETAS PARA SU ABORDAJE</a:t>
            </a:r>
            <a:endParaRPr b="1" sz="5400">
              <a:solidFill>
                <a:srgbClr val="FFFF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9441375" y="3994375"/>
            <a:ext cx="72297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15240" lvl="0" marL="27305" marR="5080" rtl="0" algn="ctr">
              <a:lnSpc>
                <a:spcPct val="10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200" u="none" cap="none" strike="noStrike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Herramientas para la Transformación, Comunicaciones y Acuerdos Ganar - Ganar.</a:t>
            </a:r>
            <a:endParaRPr b="1" i="0" sz="42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6" name="Google Shape;1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3415" y="3539913"/>
            <a:ext cx="6644339" cy="4048125"/>
          </a:xfrm>
          <a:prstGeom prst="rect">
            <a:avLst/>
          </a:prstGeom>
          <a:noFill/>
          <a:ln cap="flat" cmpd="thickThin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1"/>
          <p:cNvSpPr txBox="1"/>
          <p:nvPr/>
        </p:nvSpPr>
        <p:spPr>
          <a:xfrm>
            <a:off x="2263425" y="8239250"/>
            <a:ext cx="130440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15240" lvl="0" marL="27305" marR="5080" rtl="0" algn="ctr">
              <a:lnSpc>
                <a:spcPct val="10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2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Lic. Gustavo Galian Alvarado</a:t>
            </a:r>
            <a:endParaRPr b="1" i="0" sz="42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075" y="1235250"/>
            <a:ext cx="14833726" cy="72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600" y="838200"/>
            <a:ext cx="635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/>
          <p:nvPr/>
        </p:nvSpPr>
        <p:spPr>
          <a:xfrm>
            <a:off x="446616" y="461432"/>
            <a:ext cx="0" cy="8902700"/>
          </a:xfrm>
          <a:custGeom>
            <a:rect b="b" l="l" r="r" t="t"/>
            <a:pathLst>
              <a:path extrusionOk="0" h="8902700" w="120000">
                <a:moveTo>
                  <a:pt x="0" y="890270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707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1414780" y="4343400"/>
            <a:ext cx="2903220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137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0F0F0F"/>
                </a:solidFill>
                <a:latin typeface="Lucida Sans"/>
                <a:ea typeface="Lucida Sans"/>
                <a:cs typeface="Lucida Sans"/>
                <a:sym typeface="Lucida Sans"/>
              </a:rPr>
              <a:t>Fase1: </a:t>
            </a:r>
            <a:r>
              <a:rPr b="1" lang="es-AR" sz="2700">
                <a:solidFill>
                  <a:srgbClr val="111111"/>
                </a:solidFill>
                <a:latin typeface="Lucida Sans"/>
                <a:ea typeface="Lucida Sans"/>
                <a:cs typeface="Lucida Sans"/>
                <a:sym typeface="Lucida Sans"/>
              </a:rPr>
              <a:t>Diagnóstico</a:t>
            </a:r>
            <a:endParaRPr b="1" sz="27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4445" marR="0" rtl="0" algn="ctr">
              <a:lnSpc>
                <a:spcPct val="1137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0F0F0F"/>
                </a:solidFill>
                <a:latin typeface="Lucida Sans"/>
                <a:ea typeface="Lucida Sans"/>
                <a:cs typeface="Lucida Sans"/>
                <a:sym typeface="Lucida Sans"/>
              </a:rPr>
              <a:t>Sistemático</a:t>
            </a:r>
            <a:endParaRPr b="1" sz="27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636395" y="5971909"/>
            <a:ext cx="2453005" cy="1419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5080" rtl="0" algn="ctr">
              <a:lnSpc>
                <a:spcPct val="9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Definiciones, tipología y reconocimiento de crisis.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5403215" y="4419600"/>
            <a:ext cx="2800985" cy="81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968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131313"/>
                </a:solidFill>
                <a:latin typeface="Lucida Sans"/>
                <a:ea typeface="Lucida Sans"/>
                <a:cs typeface="Lucida Sans"/>
                <a:sym typeface="Lucida Sans"/>
              </a:rPr>
              <a:t>Fase 2:</a:t>
            </a:r>
            <a:endParaRPr/>
          </a:p>
          <a:p>
            <a:pPr indent="0" lvl="0" marL="0" marR="0" rtl="0" algn="ctr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161616"/>
                </a:solidFill>
                <a:latin typeface="Lucida Sans"/>
                <a:ea typeface="Lucida Sans"/>
                <a:cs typeface="Lucida Sans"/>
                <a:sym typeface="Lucida Sans"/>
              </a:rPr>
              <a:t>El </a:t>
            </a:r>
            <a:r>
              <a:rPr b="1" lang="es-AR" sz="2700">
                <a:solidFill>
                  <a:srgbClr val="151515"/>
                </a:solidFill>
                <a:latin typeface="Lucida Sans"/>
                <a:ea typeface="Lucida Sans"/>
                <a:cs typeface="Lucida Sans"/>
                <a:sym typeface="Lucida Sans"/>
              </a:rPr>
              <a:t>Factor </a:t>
            </a:r>
            <a:r>
              <a:rPr b="1" lang="es-AR" sz="2700">
                <a:solidFill>
                  <a:srgbClr val="111111"/>
                </a:solidFill>
                <a:latin typeface="Lucida Sans"/>
                <a:ea typeface="Lucida Sans"/>
                <a:cs typeface="Lucida Sans"/>
                <a:sym typeface="Lucida Sans"/>
              </a:rPr>
              <a:t>Biológico</a:t>
            </a:r>
            <a:endParaRPr b="1" sz="27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5469408" y="5857169"/>
            <a:ext cx="2487930" cy="107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4445" lvl="0" marL="12065" marR="5080" rtl="0" algn="ctr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 Cerebro  - Lectura no verbal </a:t>
            </a:r>
            <a:r>
              <a:rPr lang="es-AR" sz="25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en la mesa.</a:t>
            </a:r>
            <a:endParaRPr sz="25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9453245" y="4375150"/>
            <a:ext cx="2941955" cy="816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901700" lvl="0" marL="12700" marR="508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131313"/>
                </a:solidFill>
                <a:latin typeface="Lucida Sans"/>
                <a:ea typeface="Lucida Sans"/>
                <a:cs typeface="Lucida Sans"/>
                <a:sym typeface="Lucida Sans"/>
              </a:rPr>
              <a:t>Fase </a:t>
            </a:r>
            <a:r>
              <a:rPr b="1" lang="es-AR" sz="2700">
                <a:solidFill>
                  <a:srgbClr val="0F0F0F"/>
                </a:solidFill>
                <a:latin typeface="Lucida Sans"/>
                <a:ea typeface="Lucida Sans"/>
                <a:cs typeface="Lucida Sans"/>
                <a:sym typeface="Lucida Sans"/>
              </a:rPr>
              <a:t>3: </a:t>
            </a:r>
            <a:r>
              <a:rPr b="1" lang="es-AR" sz="2700">
                <a:solidFill>
                  <a:srgbClr val="111111"/>
                </a:solidFill>
                <a:latin typeface="Lucida Sans"/>
                <a:ea typeface="Lucida Sans"/>
                <a:cs typeface="Lucida Sans"/>
                <a:sym typeface="Lucida Sans"/>
              </a:rPr>
              <a:t>Doctrina </a:t>
            </a:r>
            <a:r>
              <a:rPr b="1" lang="es-AR" sz="2700">
                <a:solidFill>
                  <a:srgbClr val="181818"/>
                </a:solidFill>
                <a:latin typeface="Lucida Sans"/>
                <a:ea typeface="Lucida Sans"/>
                <a:cs typeface="Lucida Sans"/>
                <a:sym typeface="Lucida Sans"/>
              </a:rPr>
              <a:t>y </a:t>
            </a:r>
            <a:r>
              <a:rPr b="1" lang="es-AR" sz="2700">
                <a:solidFill>
                  <a:srgbClr val="161616"/>
                </a:solidFill>
                <a:latin typeface="Lucida Sans"/>
                <a:ea typeface="Lucida Sans"/>
                <a:cs typeface="Lucida Sans"/>
                <a:sym typeface="Lucida Sans"/>
              </a:rPr>
              <a:t>Modelos</a:t>
            </a:r>
            <a:endParaRPr b="1" sz="27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9850120" y="6006465"/>
            <a:ext cx="2545080" cy="138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10160" lvl="0" marL="12700" marR="5080" rtl="0" algn="ctr">
              <a:lnSpc>
                <a:spcPct val="9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Matrices de </a:t>
            </a:r>
            <a:r>
              <a:rPr lang="es-AR" sz="23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negociación: desde </a:t>
            </a:r>
            <a:r>
              <a:rPr lang="es-AR" sz="23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 regateo hasta el método Harvard.</a:t>
            </a:r>
            <a:endParaRPr sz="23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13336270" y="3204971"/>
            <a:ext cx="2487930" cy="4773614"/>
          </a:xfrm>
          <a:prstGeom prst="rect">
            <a:avLst/>
          </a:prstGeom>
          <a:noFill/>
          <a:ln cap="flat" cmpd="sng" w="12700">
            <a:solidFill>
              <a:srgbClr val="6067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55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055" marR="0" rtl="0" algn="ctr">
              <a:lnSpc>
                <a:spcPct val="1137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700">
                <a:solidFill>
                  <a:srgbClr val="131313"/>
                </a:solidFill>
                <a:latin typeface="Lucida Sans"/>
                <a:ea typeface="Lucida Sans"/>
                <a:cs typeface="Lucida Sans"/>
                <a:sym typeface="Lucida Sans"/>
              </a:rPr>
              <a:t>Fase </a:t>
            </a:r>
            <a:r>
              <a:rPr b="1" lang="es-AR" sz="2700">
                <a:solidFill>
                  <a:srgbClr val="181818"/>
                </a:solidFill>
                <a:latin typeface="Lucida Sans"/>
                <a:ea typeface="Lucida Sans"/>
                <a:cs typeface="Lucida Sans"/>
                <a:sym typeface="Lucida Sans"/>
              </a:rPr>
              <a:t>4:</a:t>
            </a:r>
            <a:endParaRPr b="1" sz="27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5400" marR="0" rtl="0" algn="ctr">
              <a:lnSpc>
                <a:spcPct val="12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151515"/>
                </a:solidFill>
                <a:latin typeface="Lucida Sans"/>
                <a:ea typeface="Lucida Sans"/>
                <a:cs typeface="Lucida Sans"/>
                <a:sym typeface="Lucida Sans"/>
              </a:rPr>
              <a:t>Portafolio</a:t>
            </a:r>
            <a:endParaRPr b="1" sz="2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3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8255" lvl="0" marL="274955" marR="220345" rtl="0" algn="ctr">
              <a:lnSpc>
                <a:spcPct val="9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Ciclo de vida, </a:t>
            </a:r>
            <a:r>
              <a:rPr lang="es-AR" sz="2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herramientas  </a:t>
            </a:r>
            <a:r>
              <a:rPr lang="es-AR" sz="23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y las 6 Leyes del Negociador. Perfil a desarrollar</a:t>
            </a:r>
            <a:endParaRPr sz="23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"/>
          <p:cNvPicPr preferRelativeResize="0"/>
          <p:nvPr/>
        </p:nvPicPr>
        <p:blipFill rotWithShape="1">
          <a:blip r:embed="rId3">
            <a:alphaModFix/>
          </a:blip>
          <a:srcRect b="11895" l="0" r="0" t="10951"/>
          <a:stretch/>
        </p:blipFill>
        <p:spPr>
          <a:xfrm>
            <a:off x="-25400" y="0"/>
            <a:ext cx="17500600" cy="9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"/>
          <p:cNvSpPr/>
          <p:nvPr/>
        </p:nvSpPr>
        <p:spPr>
          <a:xfrm>
            <a:off x="660400" y="3372675"/>
            <a:ext cx="840238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conflicto es una </a:t>
            </a:r>
            <a:r>
              <a:rPr b="1"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relación social</a:t>
            </a: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 la que </a:t>
            </a:r>
            <a:r>
              <a:rPr b="1"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dos o más actores (individuos o grupos) persiguen objetivos que son, o al menos parecen ser, incompatibles entre sí. 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Roberto F. Entelman "Teoría del Conflicto"</a:t>
            </a:r>
            <a:r>
              <a:rPr lang="es-AR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4191000" y="457200"/>
            <a:ext cx="8737600" cy="84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5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El conflicto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460375" y="6400800"/>
            <a:ext cx="15132878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3600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una relación social: </a:t>
            </a: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es un evento aislado, sino una forma de interacción entre actores.</a:t>
            </a:r>
            <a:endParaRPr>
              <a:solidFill>
                <a:schemeClr val="lt1"/>
              </a:solidFill>
            </a:endParaRPr>
          </a:p>
          <a:p>
            <a:pPr indent="-152400" lvl="0" marL="360000" marR="0" rtl="0" algn="just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Implica objetivos incompatibles</a:t>
            </a: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Las partes perciben que no pueden alcanzar sus metas simultáneamente.</a:t>
            </a:r>
            <a:endParaRPr>
              <a:solidFill>
                <a:schemeClr val="lt1"/>
              </a:solidFill>
            </a:endParaRPr>
          </a:p>
          <a:p>
            <a:pPr indent="-152400" lvl="0" marL="360000" marR="0" rtl="0" algn="just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Hay una intencionalidad</a:t>
            </a: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Los actores buscan activamente conseguir sus propios objetivos.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https://www.finaldraft.com/media/amasty/blog/cache/W/h/940/660/What%20is%20the%20Iceberg%20Theory%20and%20How%20Can%20It%20Help%20Your%20Writing.jpeg" id="180" name="Google Shape;18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/>
          <p:nvPr/>
        </p:nvSpPr>
        <p:spPr>
          <a:xfrm>
            <a:off x="1727200" y="1524000"/>
            <a:ext cx="14173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conflicto se define como una </a:t>
            </a:r>
            <a:r>
              <a:rPr b="1"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incompatibilidad entre los objetivos o valores de los actores</a:t>
            </a:r>
            <a:r>
              <a:rPr lang="es-AR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3">
            <a:alphaModFix/>
          </a:blip>
          <a:srcRect b="15308" l="31500" r="30750" t="19202"/>
          <a:stretch/>
        </p:blipFill>
        <p:spPr>
          <a:xfrm>
            <a:off x="5842000" y="2623930"/>
            <a:ext cx="6282635" cy="615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1362726" y="3276600"/>
            <a:ext cx="145542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180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Normalidad del Conflicto: </a:t>
            </a: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una experiencia común y natural en todas las relaciones y culturas.</a:t>
            </a:r>
            <a:endParaRPr b="1" sz="2400">
              <a:solidFill>
                <a:srgbClr val="F2F2F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2400" lvl="0" marL="180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Motor de Cambio:</a:t>
            </a: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conflicto es un catalizador para el desarrollo y la reconstrucción de organizaciones y realidades sociales.</a:t>
            </a:r>
            <a:endParaRPr/>
          </a:p>
          <a:p>
            <a:pPr indent="-152400" lvl="0" marL="180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Enfoque en las Relaciones: </a:t>
            </a: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gestión del conflicto debe priorizar la salud y la construcción de relaciones, no solo la solución de problemas específicos.</a:t>
            </a:r>
            <a:endParaRPr/>
          </a:p>
          <a:p>
            <a:pPr indent="-152400" lvl="0" marL="180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b="1"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Enraizado en el significado y la cultura:</a:t>
            </a: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Los conflictos surgen de las interpretaciones y los significados que las personas atribuyen a los eventos, y estos significados están profundamente arraigados en la cultura y el conocimiento compartido.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2F2F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meta no es eliminar el conflicto, sino transformarlo de una manera que reduzca la violencia y aumente la justicia, aprovechando su potencial para generar un cambio positivo.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1057926" y="762000"/>
            <a:ext cx="15163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conflicto es mucho más que una simple disputa a resolver. Él lo concibe como un fenómeno natural de la creación humana, intrínsecamente ligado a las relaciones sociales y presente en todas las culturas. John Paul Lederach</a:t>
            </a:r>
            <a:endParaRPr sz="2400">
              <a:solidFill>
                <a:srgbClr val="F2F2F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2F2F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es negativo – no debe evitarse a toda costa, es una oportunidad inherente para el cambio constructivo y la transformación de las relaciones y las estructuras sociales.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9908" y="5443855"/>
            <a:ext cx="38989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2200" y="8153400"/>
            <a:ext cx="7924800" cy="12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2209800"/>
            <a:ext cx="110109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06400"/>
            <a:ext cx="228600" cy="128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6"/>
          <p:cNvGrpSpPr/>
          <p:nvPr/>
        </p:nvGrpSpPr>
        <p:grpSpPr>
          <a:xfrm>
            <a:off x="12966700" y="2307167"/>
            <a:ext cx="3865245" cy="3141345"/>
            <a:chOff x="12966700" y="2307167"/>
            <a:chExt cx="3865245" cy="3141345"/>
          </a:xfrm>
        </p:grpSpPr>
        <p:sp>
          <p:nvSpPr>
            <p:cNvPr id="202" name="Google Shape;202;p6"/>
            <p:cNvSpPr/>
            <p:nvPr/>
          </p:nvSpPr>
          <p:spPr>
            <a:xfrm>
              <a:off x="16816916" y="2307167"/>
              <a:ext cx="0" cy="3141345"/>
            </a:xfrm>
            <a:custGeom>
              <a:rect b="b" l="l" r="r" t="t"/>
              <a:pathLst>
                <a:path extrusionOk="0" h="3141345" w="120000">
                  <a:moveTo>
                    <a:pt x="0" y="3141133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14846300" y="5446183"/>
              <a:ext cx="1985645" cy="0"/>
            </a:xfrm>
            <a:custGeom>
              <a:rect b="b" l="l" r="r" t="t"/>
              <a:pathLst>
                <a:path extrusionOk="0" h="120000" w="1985644">
                  <a:moveTo>
                    <a:pt x="0" y="0"/>
                  </a:moveTo>
                  <a:lnTo>
                    <a:pt x="19854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12966700" y="2309283"/>
              <a:ext cx="3865245" cy="0"/>
            </a:xfrm>
            <a:custGeom>
              <a:rect b="b" l="l" r="r" t="t"/>
              <a:pathLst>
                <a:path extrusionOk="0" h="120000" w="3865244">
                  <a:moveTo>
                    <a:pt x="0" y="0"/>
                  </a:moveTo>
                  <a:lnTo>
                    <a:pt x="38650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05" name="Google Shape;205;p6"/>
          <p:cNvSpPr txBox="1"/>
          <p:nvPr/>
        </p:nvSpPr>
        <p:spPr>
          <a:xfrm>
            <a:off x="4813758" y="352258"/>
            <a:ext cx="8419642" cy="167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5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Anatomía del Conflicto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s-AR" sz="5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 Las 3 ’P’ de Lederach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126450" y="2502958"/>
            <a:ext cx="3830320" cy="2216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3810" marR="0" rtl="0" algn="l">
              <a:lnSpc>
                <a:spcPct val="1186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450">
                <a:solidFill>
                  <a:srgbClr val="242424"/>
                </a:solidFill>
                <a:latin typeface="Lucida Sans"/>
                <a:ea typeface="Lucida Sans"/>
                <a:cs typeface="Lucida Sans"/>
                <a:sym typeface="Lucida Sans"/>
              </a:rPr>
              <a:t>Personas</a:t>
            </a:r>
            <a:endParaRPr/>
          </a:p>
          <a:p>
            <a:pPr indent="-635" lvl="0" marL="18415" marR="5080" rtl="0" algn="l">
              <a:lnSpc>
                <a:spcPct val="859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La dimensión humana. Emociones, percepciones cruzadas, historia de la relación y necesidades básicas (seguridad, reconocimiento</a:t>
            </a:r>
            <a:r>
              <a:rPr lang="es-AR" sz="25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).</a:t>
            </a:r>
            <a:endParaRPr sz="25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12105324" y="2579791"/>
            <a:ext cx="4938076" cy="22636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3810" marR="0" rtl="0" algn="l">
              <a:lnSpc>
                <a:spcPct val="1186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450">
                <a:solidFill>
                  <a:srgbClr val="242424"/>
                </a:solidFill>
                <a:latin typeface="Lucida Sans"/>
                <a:ea typeface="Lucida Sans"/>
                <a:cs typeface="Lucida Sans"/>
                <a:sym typeface="Lucida Sans"/>
              </a:rPr>
              <a:t>Problema</a:t>
            </a:r>
            <a:endParaRPr/>
          </a:p>
          <a:p>
            <a:pPr indent="12700" lvl="0" marL="14604" marR="5080" rtl="0" algn="just">
              <a:lnSpc>
                <a:spcPct val="895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 contenido. Asuntos sustanciales en disputa. La diferencia vital entre Posiciones (lo que exigen) e Intereses (el porqué real). Conflictos genuinos vs. innecesarios.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000" y="2743200"/>
            <a:ext cx="12725400" cy="556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193800" y="1143000"/>
            <a:ext cx="15045084" cy="44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DIAGRAMA DE EMOCIONES EN EL DESARROLLO DEL COFLICTO</a:t>
            </a:r>
            <a:endParaRPr sz="2800">
              <a:solidFill>
                <a:srgbClr val="FFFF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00" y="152400"/>
            <a:ext cx="17132300" cy="94488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19" name="Google Shape;219;p8"/>
          <p:cNvSpPr txBox="1"/>
          <p:nvPr>
            <p:ph type="title"/>
          </p:nvPr>
        </p:nvSpPr>
        <p:spPr>
          <a:xfrm>
            <a:off x="833977" y="538140"/>
            <a:ext cx="78684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675">
            <a:spAutoFit/>
          </a:bodyPr>
          <a:lstStyle/>
          <a:p>
            <a:pPr indent="-31750" lvl="0" marL="43815" marR="5080" rtl="0" algn="l">
              <a:lnSpc>
                <a:spcPct val="735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6350"/>
              <a:buFont typeface="EB Garamond"/>
              <a:buNone/>
            </a:pPr>
            <a:r>
              <a:rPr lang="es-AR" sz="6350">
                <a:solidFill>
                  <a:srgbClr val="1D1D1D"/>
                </a:solidFill>
                <a:latin typeface="EB Garamond"/>
                <a:ea typeface="EB Garamond"/>
                <a:cs typeface="EB Garamond"/>
                <a:sym typeface="EB Garamond"/>
              </a:rPr>
              <a:t>Matriz </a:t>
            </a:r>
            <a:r>
              <a:rPr lang="es-AR" sz="6350">
                <a:solidFill>
                  <a:srgbClr val="1C1C1C"/>
                </a:solidFill>
                <a:latin typeface="EB Garamond"/>
                <a:ea typeface="EB Garamond"/>
                <a:cs typeface="EB Garamond"/>
                <a:sym typeface="EB Garamond"/>
              </a:rPr>
              <a:t>de Clasificación </a:t>
            </a:r>
            <a:r>
              <a:rPr lang="es-AR" sz="6350">
                <a:solidFill>
                  <a:srgbClr val="282828"/>
                </a:solidFill>
                <a:latin typeface="EB Garamond"/>
                <a:ea typeface="EB Garamond"/>
                <a:cs typeface="EB Garamond"/>
                <a:sym typeface="EB Garamond"/>
              </a:rPr>
              <a:t>y </a:t>
            </a:r>
            <a:r>
              <a:rPr lang="es-AR" sz="6350">
                <a:solidFill>
                  <a:srgbClr val="232323"/>
                </a:solidFill>
                <a:latin typeface="EB Garamond"/>
                <a:ea typeface="EB Garamond"/>
                <a:cs typeface="EB Garamond"/>
                <a:sym typeface="EB Garamond"/>
              </a:rPr>
              <a:t>Detección de Crisis</a:t>
            </a:r>
            <a:endParaRPr sz="635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780259" y="2289880"/>
            <a:ext cx="3089910" cy="6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800">
                <a:solidFill>
                  <a:srgbClr val="1C1C1C"/>
                </a:solidFill>
                <a:latin typeface="Lucida Sans"/>
                <a:ea typeface="Lucida Sans"/>
                <a:cs typeface="Lucida Sans"/>
                <a:sym typeface="Lucida Sans"/>
              </a:rPr>
              <a:t>Eje </a:t>
            </a:r>
            <a:r>
              <a:rPr lang="es-AR" sz="3800">
                <a:solidFill>
                  <a:srgbClr val="1A1A1A"/>
                </a:solidFill>
                <a:latin typeface="Lucida Sans"/>
                <a:ea typeface="Lucida Sans"/>
                <a:cs typeface="Lucida Sans"/>
                <a:sym typeface="Lucida Sans"/>
              </a:rPr>
              <a:t>de Actores</a:t>
            </a:r>
            <a:endParaRPr sz="3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9238458" y="3458280"/>
            <a:ext cx="5720715" cy="6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800">
                <a:solidFill>
                  <a:srgbClr val="1A1A1A"/>
                </a:solidFill>
                <a:latin typeface="Lucida Sans"/>
                <a:ea typeface="Lucida Sans"/>
                <a:cs typeface="Lucida Sans"/>
                <a:sym typeface="Lucida Sans"/>
              </a:rPr>
              <a:t>Naturaleza del </a:t>
            </a:r>
            <a:r>
              <a:rPr lang="es-AR" sz="3800">
                <a:solidFill>
                  <a:srgbClr val="181818"/>
                </a:solidFill>
                <a:latin typeface="Lucida Sans"/>
                <a:ea typeface="Lucida Sans"/>
                <a:cs typeface="Lucida Sans"/>
                <a:sym typeface="Lucida Sans"/>
              </a:rPr>
              <a:t>Desacuerdo</a:t>
            </a:r>
            <a:endParaRPr sz="3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9255118" y="4337402"/>
            <a:ext cx="1243965" cy="45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50">
                <a:solidFill>
                  <a:srgbClr val="151515"/>
                </a:solidFill>
                <a:latin typeface="Lucida Sans"/>
                <a:ea typeface="Lucida Sans"/>
                <a:cs typeface="Lucida Sans"/>
                <a:sym typeface="Lucida Sans"/>
              </a:rPr>
              <a:t>Tareas</a:t>
            </a:r>
            <a:endParaRPr sz="28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1294674" y="4209104"/>
            <a:ext cx="5124450" cy="82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C0C0C"/>
                </a:solidFill>
                <a:latin typeface="Lucida Sans"/>
                <a:ea typeface="Lucida Sans"/>
                <a:cs typeface="Lucida Sans"/>
                <a:sym typeface="Lucida Sans"/>
              </a:rPr>
              <a:t>Discrepancia técnica (objetivos “que” – procesos “como” – distribución de  recursos)</a:t>
            </a:r>
            <a:r>
              <a:rPr lang="es-AR" sz="28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a.</a:t>
            </a:r>
            <a:endParaRPr sz="28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9236452" y="5115983"/>
            <a:ext cx="160528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900">
                <a:solidFill>
                  <a:srgbClr val="131313"/>
                </a:solidFill>
                <a:latin typeface="Lucida Sans"/>
                <a:ea typeface="Lucida Sans"/>
                <a:cs typeface="Lucida Sans"/>
                <a:sym typeface="Lucida Sans"/>
              </a:rPr>
              <a:t>Relación</a:t>
            </a:r>
            <a:endParaRPr sz="29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9235630" y="5932663"/>
            <a:ext cx="1525905" cy="48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950">
                <a:solidFill>
                  <a:srgbClr val="181818"/>
                </a:solidFill>
                <a:latin typeface="Lucida Sans"/>
                <a:ea typeface="Lucida Sans"/>
                <a:cs typeface="Lucida Sans"/>
                <a:sym typeface="Lucida Sans"/>
              </a:rPr>
              <a:t>Proceso</a:t>
            </a:r>
            <a:endParaRPr sz="29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9250547" y="6778977"/>
            <a:ext cx="1383665" cy="55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450">
                <a:solidFill>
                  <a:srgbClr val="111111"/>
                </a:solidFill>
                <a:latin typeface="Lucida Sans"/>
                <a:ea typeface="Lucida Sans"/>
                <a:cs typeface="Lucida Sans"/>
                <a:sym typeface="Lucida Sans"/>
              </a:rPr>
              <a:t>Valores</a:t>
            </a:r>
            <a:endParaRPr sz="34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9231722" y="7685616"/>
            <a:ext cx="172973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00">
                <a:solidFill>
                  <a:srgbClr val="151515"/>
                </a:solidFill>
                <a:latin typeface="Lucida Sans"/>
                <a:ea typeface="Lucida Sans"/>
                <a:cs typeface="Lucida Sans"/>
                <a:sym typeface="Lucida Sans"/>
              </a:rPr>
              <a:t>Intereses</a:t>
            </a:r>
            <a:endParaRPr sz="33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11438595" y="5105400"/>
            <a:ext cx="5124450" cy="45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C0C0C"/>
                </a:solidFill>
                <a:latin typeface="Lucida Sans"/>
                <a:ea typeface="Lucida Sans"/>
                <a:cs typeface="Lucida Sans"/>
                <a:sym typeface="Lucida Sans"/>
              </a:rPr>
              <a:t>Choque afectivo , fricción, hostilidad)</a:t>
            </a:r>
            <a:r>
              <a:rPr lang="es-AR" sz="28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a.</a:t>
            </a:r>
            <a:endParaRPr sz="28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1294674" y="5932663"/>
            <a:ext cx="5124450" cy="45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C0C0C"/>
                </a:solidFill>
                <a:latin typeface="Lucida Sans"/>
                <a:ea typeface="Lucida Sans"/>
                <a:cs typeface="Lucida Sans"/>
                <a:sym typeface="Lucida Sans"/>
              </a:rPr>
              <a:t>Disputa lógica o de roles</a:t>
            </a:r>
            <a:r>
              <a:rPr lang="es-AR" sz="28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a.</a:t>
            </a:r>
            <a:endParaRPr sz="28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11294674" y="6778977"/>
            <a:ext cx="5124450" cy="45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C0C0C"/>
                </a:solidFill>
                <a:latin typeface="Lucida Sans"/>
                <a:ea typeface="Lucida Sans"/>
                <a:cs typeface="Lucida Sans"/>
                <a:sym typeface="Lucida Sans"/>
              </a:rPr>
              <a:t>Diferencias ideológicas fundamentales</a:t>
            </a:r>
            <a:r>
              <a:rPr lang="es-AR" sz="28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sz="28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1176000" y="7685616"/>
            <a:ext cx="572071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335" marR="0" rtl="0" algn="l">
              <a:lnSpc>
                <a:spcPct val="13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Percepción de recursos  incompatibles  o limitados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/>
          <p:nvPr>
            <p:ph type="title"/>
          </p:nvPr>
        </p:nvSpPr>
        <p:spPr>
          <a:xfrm>
            <a:off x="926093" y="643866"/>
            <a:ext cx="13480103" cy="1991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EB Garamond"/>
              <a:buNone/>
            </a:pPr>
            <a:r>
              <a:rPr lang="es-AR" sz="44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HERRAMIENTAS PARA ABORDAR CONFLICTOS</a:t>
            </a:r>
            <a:endParaRPr/>
          </a:p>
        </p:txBody>
      </p:sp>
      <p:sp>
        <p:nvSpPr>
          <p:cNvPr id="237" name="Google Shape;237;p9"/>
          <p:cNvSpPr txBox="1"/>
          <p:nvPr>
            <p:ph idx="1" type="body"/>
          </p:nvPr>
        </p:nvSpPr>
        <p:spPr>
          <a:xfrm>
            <a:off x="1581415" y="2919706"/>
            <a:ext cx="12823375" cy="5966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7672" lvl="0" marL="487672" rtl="0" algn="l">
              <a:spcBef>
                <a:spcPts val="0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Negociación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Mediación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Arbitraje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Conciliación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Facilitación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Investigación y Diagnóstico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Diálogo y Deliberación</a:t>
            </a:r>
            <a:endParaRPr/>
          </a:p>
          <a:p>
            <a:pPr indent="-487672" lvl="0" marL="487672" rtl="0" algn="l">
              <a:spcBef>
                <a:spcPts val="1422"/>
              </a:spcBef>
              <a:spcAft>
                <a:spcPts val="0"/>
              </a:spcAft>
              <a:buSzPts val="2240"/>
              <a:buChar char="►"/>
            </a:pPr>
            <a:r>
              <a:rPr lang="es-AR"/>
              <a:t>·  </a:t>
            </a:r>
            <a:r>
              <a:rPr b="1" lang="es-AR"/>
              <a:t>Educación para la Paz y Habilidades de Resolución de Conflictos</a:t>
            </a:r>
            <a:endParaRPr/>
          </a:p>
          <a:p>
            <a:pPr indent="0" lvl="0" marL="0" rtl="0" algn="l">
              <a:spcBef>
                <a:spcPts val="1422"/>
              </a:spcBef>
              <a:spcAft>
                <a:spcPts val="0"/>
              </a:spcAft>
              <a:buSzPts val="2275"/>
              <a:buNone/>
            </a:pPr>
            <a:r>
              <a:t/>
            </a:r>
            <a:endParaRPr/>
          </a:p>
        </p:txBody>
      </p:sp>
      <p:pic>
        <p:nvPicPr>
          <p:cNvPr descr="C:\Users\J_SELISAMAR\Desktop\NEGOCIACION Y MEDIACION\NEG\MediadoresNegociadores de Gendarmeria Nacional\mediacion con el campo.JPG" id="238" name="Google Shape;2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3548" y="2895600"/>
            <a:ext cx="6705600" cy="3858654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00" y="177800"/>
            <a:ext cx="17132300" cy="94488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44" name="Google Shape;244;p10"/>
          <p:cNvSpPr txBox="1"/>
          <p:nvPr>
            <p:ph type="title"/>
          </p:nvPr>
        </p:nvSpPr>
        <p:spPr>
          <a:xfrm>
            <a:off x="648964" y="685800"/>
            <a:ext cx="12073885" cy="568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C3F"/>
              </a:buClr>
              <a:buSzPts val="3600"/>
              <a:buFont typeface="Century Gothic"/>
              <a:buNone/>
            </a:pPr>
            <a:r>
              <a:rPr b="1" lang="es-AR" sz="3600">
                <a:solidFill>
                  <a:srgbClr val="163C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Biología de la Negociacion: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648964" y="1365956"/>
            <a:ext cx="8894758" cy="571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6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Cerebro Triuno de MacLean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2505337" y="2255308"/>
            <a:ext cx="4146550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50">
                <a:solidFill>
                  <a:srgbClr val="151515"/>
                </a:solidFill>
                <a:latin typeface="Lucida Sans"/>
                <a:ea typeface="Lucida Sans"/>
                <a:cs typeface="Lucida Sans"/>
                <a:sym typeface="Lucida Sans"/>
              </a:rPr>
              <a:t>Secuestro Emocional</a:t>
            </a:r>
            <a:endParaRPr sz="35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9543721" y="2452158"/>
            <a:ext cx="5726430" cy="1334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5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Neocórtex (Razón)</a:t>
            </a:r>
            <a:endParaRPr sz="35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5240" lvl="0" marL="27305" marR="5080" rtl="0" algn="l">
              <a:lnSpc>
                <a:spcPct val="96296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s-AR" sz="27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Razón, pensamiento lógico, planificación, abstracción. Inhibición de impulsos.</a:t>
            </a:r>
            <a:endParaRPr sz="27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9540430" y="4279900"/>
            <a:ext cx="6849745" cy="350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495" marR="0" rtl="0" algn="l">
              <a:lnSpc>
                <a:spcPct val="122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Cerebro Límbico (Emoción)</a:t>
            </a:r>
            <a:endParaRPr/>
          </a:p>
          <a:p>
            <a:pPr indent="-2540" lvl="0" marL="14604" marR="165735" rtl="0" algn="l">
              <a:lnSpc>
                <a:spcPct val="734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s-AR" sz="27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Regulación emocional, memoria afectiva, miedo, conexión social. Es el centro de la motivación.</a:t>
            </a:r>
            <a:endParaRPr/>
          </a:p>
          <a:p>
            <a:pPr indent="0" lvl="0" marL="25400" marR="0" rtl="0" algn="l">
              <a:lnSpc>
                <a:spcPct val="100000"/>
              </a:lnSpc>
              <a:spcBef>
                <a:spcPts val="4360"/>
              </a:spcBef>
              <a:spcAft>
                <a:spcPts val="0"/>
              </a:spcAft>
              <a:buNone/>
            </a:pPr>
            <a:r>
              <a:rPr lang="es-AR" sz="35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Cerebro Reptiliano (Supervivencia)</a:t>
            </a:r>
            <a:endParaRPr/>
          </a:p>
          <a:p>
            <a:pPr indent="0" lvl="0" marL="16510" marR="114935" rtl="0" algn="l">
              <a:lnSpc>
                <a:spcPct val="96296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lang="es-AR" sz="27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Lucha, huida, territorialidad. Señales no verbales: Pupilas dilatadas, mandíbula tensa, tocarse el cuello, inquietud en piernas.</a:t>
            </a:r>
            <a:endParaRPr/>
          </a:p>
        </p:txBody>
      </p:sp>
      <p:pic>
        <p:nvPicPr>
          <p:cNvPr id="249" name="Google Shape;2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3087" y="5257800"/>
            <a:ext cx="4591050" cy="2754630"/>
          </a:xfrm>
          <a:prstGeom prst="rect">
            <a:avLst/>
          </a:prstGeom>
          <a:noFill/>
          <a:ln cap="flat" cmpd="thickThin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1"/>
          <p:cNvGrpSpPr/>
          <p:nvPr/>
        </p:nvGrpSpPr>
        <p:grpSpPr>
          <a:xfrm>
            <a:off x="2755900" y="2027767"/>
            <a:ext cx="13847444" cy="6824345"/>
            <a:chOff x="2755900" y="2027767"/>
            <a:chExt cx="13847444" cy="6824345"/>
          </a:xfrm>
        </p:grpSpPr>
        <p:sp>
          <p:nvSpPr>
            <p:cNvPr id="255" name="Google Shape;255;p11"/>
            <p:cNvSpPr/>
            <p:nvPr/>
          </p:nvSpPr>
          <p:spPr>
            <a:xfrm>
              <a:off x="2796116" y="2027767"/>
              <a:ext cx="0" cy="6824345"/>
            </a:xfrm>
            <a:custGeom>
              <a:rect b="b" l="l" r="r" t="t"/>
              <a:pathLst>
                <a:path extrusionOk="0" h="6824345" w="120000">
                  <a:moveTo>
                    <a:pt x="0" y="68241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F4F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2755900" y="4074583"/>
              <a:ext cx="13847444" cy="0"/>
            </a:xfrm>
            <a:custGeom>
              <a:rect b="b" l="l" r="r" t="t"/>
              <a:pathLst>
                <a:path extrusionOk="0" h="120000" w="13847444">
                  <a:moveTo>
                    <a:pt x="0" y="0"/>
                  </a:moveTo>
                  <a:lnTo>
                    <a:pt x="13847233" y="0"/>
                  </a:lnTo>
                </a:path>
              </a:pathLst>
            </a:custGeom>
            <a:noFill/>
            <a:ln cap="flat" cmpd="sng" w="9525">
              <a:solidFill>
                <a:srgbClr val="3F4F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2755900" y="4023783"/>
              <a:ext cx="13847444" cy="0"/>
            </a:xfrm>
            <a:custGeom>
              <a:rect b="b" l="l" r="r" t="t"/>
              <a:pathLst>
                <a:path extrusionOk="0" h="120000" w="13847444">
                  <a:moveTo>
                    <a:pt x="0" y="0"/>
                  </a:moveTo>
                  <a:lnTo>
                    <a:pt x="13847233" y="0"/>
                  </a:lnTo>
                </a:path>
              </a:pathLst>
            </a:custGeom>
            <a:noFill/>
            <a:ln cap="flat" cmpd="sng" w="9525">
              <a:solidFill>
                <a:srgbClr val="3F4F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2755900" y="4023783"/>
              <a:ext cx="13847444" cy="0"/>
            </a:xfrm>
            <a:custGeom>
              <a:rect b="b" l="l" r="r" t="t"/>
              <a:pathLst>
                <a:path extrusionOk="0" h="120000" w="13847444">
                  <a:moveTo>
                    <a:pt x="0" y="0"/>
                  </a:moveTo>
                  <a:lnTo>
                    <a:pt x="13847233" y="0"/>
                  </a:lnTo>
                </a:path>
              </a:pathLst>
            </a:custGeom>
            <a:noFill/>
            <a:ln cap="flat" cmpd="sng" w="29625">
              <a:solidFill>
                <a:srgbClr val="2F3F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59" name="Google Shape;25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541500" y="2273300"/>
              <a:ext cx="635000" cy="660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2209800"/>
            <a:ext cx="7493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9300" y="2311400"/>
            <a:ext cx="9144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62" name="Google Shape;262;p11"/>
          <p:cNvSpPr txBox="1"/>
          <p:nvPr>
            <p:ph type="title"/>
          </p:nvPr>
        </p:nvSpPr>
        <p:spPr>
          <a:xfrm>
            <a:off x="1248128" y="909873"/>
            <a:ext cx="15109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0">
            <a:spAutoFit/>
          </a:bodyPr>
          <a:lstStyle/>
          <a:p>
            <a:pPr indent="0" lvl="0" marL="1441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EB Garamond"/>
              <a:buNone/>
            </a:pPr>
            <a:r>
              <a:rPr lang="es-AR" sz="32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DOCTRINA ESTRATÉGICA:MODELOS DE NEGOCIACIÓN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3305150" y="3014125"/>
            <a:ext cx="27666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266700" lvl="0" marL="12700" marR="5080" rtl="0" algn="l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9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Distributiva (Ganar-Perder)</a:t>
            </a:r>
            <a:endParaRPr sz="290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6797650" y="3014125"/>
            <a:ext cx="2618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266700" lvl="0" marL="12700" marR="5080" rtl="0" algn="l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9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Integrativa (Colaborativa)</a:t>
            </a:r>
            <a:endParaRPr sz="290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10100052" y="3217333"/>
            <a:ext cx="249428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9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Método Harvard</a:t>
            </a:r>
            <a:endParaRPr sz="290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13674636" y="3217333"/>
            <a:ext cx="236093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9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Transformativa</a:t>
            </a:r>
            <a:endParaRPr sz="290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1010965" y="4620330"/>
            <a:ext cx="1572895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Enfoque</a:t>
            </a:r>
            <a:endParaRPr sz="255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3048386" y="4575880"/>
            <a:ext cx="2868295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suma cero, pastel fijo.</a:t>
            </a:r>
            <a:endParaRPr sz="255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6725965" y="4575880"/>
            <a:ext cx="2350135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Expandir</a:t>
            </a:r>
            <a:r>
              <a:rPr lang="es-AR" sz="25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 el pastel.</a:t>
            </a:r>
            <a:endParaRPr sz="25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0040665" y="4575880"/>
            <a:ext cx="2618105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Principios y méritos.</a:t>
            </a:r>
            <a:endParaRPr sz="255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13842555" y="4365272"/>
            <a:ext cx="199771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0" rtl="0" algn="ctr">
              <a:lnSpc>
                <a:spcPct val="120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La calidad de la</a:t>
            </a:r>
            <a:endParaRPr/>
          </a:p>
          <a:p>
            <a:pPr indent="0" lvl="0" marL="0" marR="24765" rtl="0" algn="ctr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interacción.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3043490" y="5861050"/>
            <a:ext cx="2870200" cy="109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17145" lvl="0" marL="12065" marR="5080" rtl="0" algn="ctr">
              <a:lnSpc>
                <a:spcPct val="9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Oferta extrema, concesiones mínimas, </a:t>
            </a:r>
            <a:r>
              <a:rPr lang="es-AR" sz="24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faroles.</a:t>
            </a:r>
            <a:endParaRPr sz="240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6242560" y="5861050"/>
            <a:ext cx="3314700" cy="1111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36830" lvl="0" marL="457834" marR="4572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Intercambio de múltiples variables</a:t>
            </a:r>
            <a:endParaRPr sz="250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(plazos, pagos, servicios).</a:t>
            </a:r>
            <a:endParaRPr sz="240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9965469" y="5861050"/>
            <a:ext cx="2766695" cy="109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11430" lvl="0" marL="12700" marR="5080" rtl="0" algn="ctr">
              <a:lnSpc>
                <a:spcPct val="9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Separar a la persona del problema, usar </a:t>
            </a:r>
            <a:r>
              <a:rPr lang="es-AR" sz="24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estándares legítimos.</a:t>
            </a:r>
            <a:endParaRPr sz="240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13218224" y="5861050"/>
            <a:ext cx="3265170" cy="109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74295" lvl="0" marL="12700" marR="5080" rtl="0" algn="just">
              <a:lnSpc>
                <a:spcPct val="9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Empoderamiento propio y reconocimiento del otro </a:t>
            </a:r>
            <a:r>
              <a:rPr lang="es-AR" sz="24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(común en mediación).</a:t>
            </a:r>
            <a:endParaRPr sz="240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1114806" y="6267450"/>
            <a:ext cx="135128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Táctica</a:t>
            </a:r>
            <a:endParaRPr sz="250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1010785" y="7883172"/>
            <a:ext cx="1558290" cy="448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5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Objetivo</a:t>
            </a:r>
            <a:endParaRPr sz="275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3472298" y="7838722"/>
            <a:ext cx="2004060" cy="448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Reclamar valor.</a:t>
            </a:r>
            <a:endParaRPr sz="275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6408285" y="7838722"/>
            <a:ext cx="2992120" cy="448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Crear y compartir valor.</a:t>
            </a:r>
            <a:endParaRPr sz="275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10139615" y="7669741"/>
            <a:ext cx="2426970" cy="809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153035" lvl="0" marL="12700" marR="5080" rtl="0" algn="l">
              <a:lnSpc>
                <a:spcPct val="10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Beneficio mutuo basado en justicia.</a:t>
            </a:r>
            <a:endParaRPr sz="270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13319430" y="7858830"/>
            <a:ext cx="3037205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50">
                <a:solidFill>
                  <a:srgbClr val="F2F2F2"/>
                </a:solidFill>
                <a:latin typeface="Lucida Sans"/>
                <a:ea typeface="Lucida Sans"/>
                <a:cs typeface="Lucida Sans"/>
                <a:sym typeface="Lucida Sans"/>
              </a:rPr>
              <a:t>Transformar la relación.</a:t>
            </a:r>
            <a:endParaRPr sz="2550">
              <a:solidFill>
                <a:srgbClr val="F2F2F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16116135" y="9439980"/>
            <a:ext cx="1228090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 NotebaokLM</a:t>
            </a:r>
            <a:endParaRPr sz="13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3276600"/>
            <a:ext cx="26543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2100" y="3276600"/>
            <a:ext cx="28956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3276600"/>
            <a:ext cx="28956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39400" y="3276600"/>
            <a:ext cx="28956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7100" y="3291840"/>
            <a:ext cx="29083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3600" y="3035300"/>
            <a:ext cx="2844800" cy="241300"/>
          </a:xfrm>
          <a:prstGeom prst="rect">
            <a:avLst/>
          </a:prstGeom>
          <a:solidFill>
            <a:srgbClr val="EC5453"/>
          </a:solidFill>
          <a:ln>
            <a:noFill/>
          </a:ln>
        </p:spPr>
      </p:pic>
      <p:pic>
        <p:nvPicPr>
          <p:cNvPr id="293" name="Google Shape;293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65600" y="3035300"/>
            <a:ext cx="2832100" cy="241300"/>
          </a:xfrm>
          <a:prstGeom prst="rect">
            <a:avLst/>
          </a:prstGeom>
          <a:solidFill>
            <a:srgbClr val="EC5453"/>
          </a:solidFill>
          <a:ln>
            <a:noFill/>
          </a:ln>
        </p:spPr>
      </p:pic>
      <p:pic>
        <p:nvPicPr>
          <p:cNvPr id="294" name="Google Shape;29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5200" y="3035300"/>
            <a:ext cx="2844800" cy="241300"/>
          </a:xfrm>
          <a:prstGeom prst="rect">
            <a:avLst/>
          </a:prstGeom>
          <a:solidFill>
            <a:srgbClr val="EC5453"/>
          </a:solidFill>
          <a:ln>
            <a:noFill/>
          </a:ln>
        </p:spPr>
      </p:pic>
      <p:pic>
        <p:nvPicPr>
          <p:cNvPr id="295" name="Google Shape;295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64800" y="3035300"/>
            <a:ext cx="2844800" cy="241300"/>
          </a:xfrm>
          <a:prstGeom prst="rect">
            <a:avLst/>
          </a:prstGeom>
          <a:solidFill>
            <a:srgbClr val="EC5453"/>
          </a:solidFill>
          <a:ln>
            <a:noFill/>
          </a:ln>
        </p:spPr>
      </p:pic>
      <p:pic>
        <p:nvPicPr>
          <p:cNvPr id="296" name="Google Shape;296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627100" y="3035300"/>
            <a:ext cx="2844800" cy="241300"/>
          </a:xfrm>
          <a:prstGeom prst="rect">
            <a:avLst/>
          </a:prstGeom>
          <a:solidFill>
            <a:srgbClr val="EC5453"/>
          </a:solidFill>
          <a:ln>
            <a:noFill/>
          </a:ln>
        </p:spPr>
      </p:pic>
      <p:sp>
        <p:nvSpPr>
          <p:cNvPr descr="$PPTXTitle" id="297" name="Google Shape;297;p12"/>
          <p:cNvSpPr txBox="1"/>
          <p:nvPr>
            <p:ph type="title"/>
          </p:nvPr>
        </p:nvSpPr>
        <p:spPr>
          <a:xfrm>
            <a:off x="1574800" y="1033780"/>
            <a:ext cx="149607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0">
            <a:spAutoFit/>
          </a:bodyPr>
          <a:lstStyle/>
          <a:p>
            <a:pPr indent="0" lvl="0" marL="144145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EB Garamond"/>
              <a:buNone/>
            </a:pPr>
            <a:r>
              <a:rPr lang="es-AR" sz="36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Principios y faces del modelo  "Harvard" de Negociación” </a:t>
            </a:r>
            <a:endParaRPr sz="3600">
              <a:solidFill>
                <a:srgbClr val="FFFF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$PPTXTitle" id="298" name="Google Shape;298;p12"/>
          <p:cNvSpPr txBox="1"/>
          <p:nvPr/>
        </p:nvSpPr>
        <p:spPr>
          <a:xfrm>
            <a:off x="1003300" y="8044137"/>
            <a:ext cx="14960600" cy="1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0">
            <a:spAutoFit/>
          </a:bodyPr>
          <a:lstStyle/>
          <a:p>
            <a:pPr indent="0" lvl="0" marL="144145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EB Garamond"/>
              <a:buNone/>
            </a:pPr>
            <a:r>
              <a:rPr b="0" i="0" lang="es-AR" sz="36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¡Sí, de acuerdo! Cómo negociar sin ceder" escrito por Roger Fisher y William Ury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56" y="556746"/>
            <a:ext cx="16360927" cy="115793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04" name="Google Shape;304;p13"/>
          <p:cNvSpPr txBox="1"/>
          <p:nvPr>
            <p:ph type="title"/>
          </p:nvPr>
        </p:nvSpPr>
        <p:spPr>
          <a:xfrm>
            <a:off x="965200" y="421671"/>
            <a:ext cx="134802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475">
            <a:spAutoFit/>
          </a:bodyPr>
          <a:lstStyle/>
          <a:p>
            <a:pPr indent="0" lvl="0" marL="962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150"/>
              <a:buFont typeface="Century Gothic"/>
              <a:buNone/>
            </a:pPr>
            <a:r>
              <a:rPr lang="es-AR" sz="6150">
                <a:solidFill>
                  <a:schemeClr val="accent1"/>
                </a:solidFill>
              </a:rPr>
              <a:t>Ciclo de Vida de una Negociación</a:t>
            </a:r>
            <a:endParaRPr sz="6150">
              <a:solidFill>
                <a:schemeClr val="accent1"/>
              </a:solidFill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1117600" y="1820676"/>
            <a:ext cx="14173200" cy="1106713"/>
          </a:xfrm>
          <a:prstGeom prst="rect">
            <a:avLst/>
          </a:prstGeom>
          <a:gradFill>
            <a:gsLst>
              <a:gs pos="0">
                <a:srgbClr val="F9F0E0"/>
              </a:gs>
              <a:gs pos="100000">
                <a:srgbClr val="EBC874"/>
              </a:gs>
            </a:gsLst>
            <a:lin ang="5400000" scaled="0"/>
          </a:gradFill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1. PREPARACIÓN: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Investigar, definir el  MAAN propio y  ajeno, establecer límites técnicos.</a:t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1117599" y="3135857"/>
            <a:ext cx="14173200" cy="1106713"/>
          </a:xfrm>
          <a:prstGeom prst="rect">
            <a:avLst/>
          </a:prstGeom>
          <a:gradFill>
            <a:gsLst>
              <a:gs pos="0">
                <a:srgbClr val="F9F0E0"/>
              </a:gs>
              <a:gs pos="100000">
                <a:srgbClr val="EBC874"/>
              </a:gs>
            </a:gsLst>
            <a:lin ang="5400000" scaled="0"/>
          </a:gradFill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2. INICIO</a:t>
            </a:r>
            <a:endParaRPr sz="33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Establecer el clima (rapport), enmarcar el ambiente positivo, resentar posturas iniciales.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1117600" y="4406000"/>
            <a:ext cx="14173200" cy="1106713"/>
          </a:xfrm>
          <a:prstGeom prst="rect">
            <a:avLst/>
          </a:prstGeom>
          <a:gradFill>
            <a:gsLst>
              <a:gs pos="0">
                <a:srgbClr val="F9F0E0"/>
              </a:gs>
              <a:gs pos="100000">
                <a:srgbClr val="EBC874"/>
              </a:gs>
            </a:gsLst>
            <a:lin ang="5400000" scaled="0"/>
          </a:gradFill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3. EXPLORACIÓN</a:t>
            </a:r>
            <a:endParaRPr sz="33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Ejecutar preguntas abiertas, realizar sondas de profundidad, identificar intereses subyacentes.</a:t>
            </a:r>
            <a:endParaRPr/>
          </a:p>
        </p:txBody>
      </p:sp>
      <p:sp>
        <p:nvSpPr>
          <p:cNvPr id="308" name="Google Shape;308;p13"/>
          <p:cNvSpPr txBox="1"/>
          <p:nvPr/>
        </p:nvSpPr>
        <p:spPr>
          <a:xfrm>
            <a:off x="1117599" y="5715000"/>
            <a:ext cx="14173199" cy="1106713"/>
          </a:xfrm>
          <a:prstGeom prst="rect">
            <a:avLst/>
          </a:prstGeom>
          <a:gradFill>
            <a:gsLst>
              <a:gs pos="0">
                <a:srgbClr val="F9F0E0"/>
              </a:gs>
              <a:gs pos="100000">
                <a:srgbClr val="EBC874"/>
              </a:gs>
            </a:gsLst>
            <a:lin ang="5400000" scaled="0"/>
          </a:gradFill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4. GENERACION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Lluvia de ideas  estructurada,  construcción de soluciones creativas expandir el pastel).</a:t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1117600" y="7010400"/>
            <a:ext cx="13557643" cy="1106713"/>
          </a:xfrm>
          <a:prstGeom prst="rect">
            <a:avLst/>
          </a:prstGeom>
          <a:gradFill>
            <a:gsLst>
              <a:gs pos="0">
                <a:srgbClr val="F9F0E0"/>
              </a:gs>
              <a:gs pos="100000">
                <a:srgbClr val="EBC874"/>
              </a:gs>
            </a:gsLst>
            <a:lin ang="5400000" scaled="0"/>
          </a:gradFill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5. CIERRE</a:t>
            </a:r>
            <a:endParaRPr sz="33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Acordar términos medibles, redactar y documentar compromisos vinculantes.</a:t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16116135" y="9439980"/>
            <a:ext cx="1228090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 NotebaokLM</a:t>
            </a:r>
            <a:endParaRPr sz="13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2500" y="2438400"/>
            <a:ext cx="4940300" cy="66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4"/>
          <p:cNvSpPr/>
          <p:nvPr/>
        </p:nvSpPr>
        <p:spPr>
          <a:xfrm>
            <a:off x="662516" y="2628900"/>
            <a:ext cx="0" cy="6650990"/>
          </a:xfrm>
          <a:custGeom>
            <a:rect b="b" l="l" r="r" t="t"/>
            <a:pathLst>
              <a:path extrusionOk="0" h="6650990" w="120000">
                <a:moveTo>
                  <a:pt x="0" y="6650566"/>
                </a:moveTo>
                <a:lnTo>
                  <a:pt x="0" y="0"/>
                </a:lnTo>
              </a:path>
            </a:pathLst>
          </a:custGeom>
          <a:noFill/>
          <a:ln cap="flat" cmpd="sng" w="21150">
            <a:solidFill>
              <a:srgbClr val="484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662516" y="2628900"/>
            <a:ext cx="4381500" cy="596958"/>
          </a:xfrm>
          <a:prstGeom prst="rect">
            <a:avLst/>
          </a:prstGeom>
          <a:noFill/>
          <a:ln cap="flat" cmpd="sng" w="12700">
            <a:solidFill>
              <a:srgbClr val="6B7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3500">
            <a:spAutoFit/>
          </a:bodyPr>
          <a:lstStyle/>
          <a:p>
            <a:pPr indent="0" lvl="0" marL="48069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Preparación</a:t>
            </a:r>
            <a:endParaRPr sz="3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descr="$PPTXTitle" id="318" name="Google Shape;318;p14"/>
          <p:cNvSpPr txBox="1"/>
          <p:nvPr>
            <p:ph type="title"/>
          </p:nvPr>
        </p:nvSpPr>
        <p:spPr>
          <a:xfrm>
            <a:off x="1270000" y="228600"/>
            <a:ext cx="13480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12494" rtl="0" algn="l">
              <a:lnSpc>
                <a:spcPct val="186477"/>
              </a:lnSpc>
              <a:spcBef>
                <a:spcPts val="0"/>
              </a:spcBef>
              <a:spcAft>
                <a:spcPts val="0"/>
              </a:spcAft>
              <a:buClr>
                <a:srgbClr val="F4A06D"/>
              </a:buClr>
              <a:buSzPts val="4400"/>
              <a:buFont typeface="EB Garamond"/>
              <a:buNone/>
            </a:pPr>
            <a:r>
              <a:rPr b="1" lang="es-AR" sz="4400">
                <a:solidFill>
                  <a:srgbClr val="F4A06D"/>
                </a:solidFill>
                <a:latin typeface="EB Garamond"/>
                <a:ea typeface="EB Garamond"/>
                <a:cs typeface="EB Garamond"/>
                <a:sym typeface="EB Garamond"/>
              </a:rPr>
              <a:t>El portafolio del Negociador </a:t>
            </a:r>
            <a:endParaRPr b="1" sz="4400">
              <a:solidFill>
                <a:srgbClr val="F4A06D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840316" y="3769783"/>
            <a:ext cx="4584700" cy="5321300"/>
          </a:xfrm>
          <a:prstGeom prst="rect">
            <a:avLst/>
          </a:prstGeom>
          <a:noFill/>
          <a:ln cap="flat" cmpd="sng" w="29625">
            <a:solidFill>
              <a:srgbClr val="485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0350">
            <a:spAutoFit/>
          </a:bodyPr>
          <a:lstStyle/>
          <a:p>
            <a:pPr indent="-12700" lvl="0" marL="307340" marR="694055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MAAN: Mejor Alternativa. Da poder de retirada.</a:t>
            </a:r>
            <a:endParaRPr sz="27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8890" lvl="0" marL="302895" marR="38862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PAAN: Peor Alternativa. Evalúa el riesgo del fracaso total.</a:t>
            </a:r>
            <a:endParaRPr sz="27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2065" lvl="0" marL="306705" marR="314325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Punto de Reserva: Su límite rojo; el peor resultado aceptable antes de irse.</a:t>
            </a:r>
            <a:endParaRPr sz="27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5994401" y="2760028"/>
            <a:ext cx="47124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-12065" lvl="0" marL="24130" marR="508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Escucha Activa: Validar el mensaje; extraer datos ocultos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5994400" y="4267200"/>
            <a:ext cx="471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10160" lvl="0" marL="22225" marR="5080" rtl="0" algn="just">
              <a:lnSpc>
                <a:spcPct val="8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Reencuadre (Reframing): Tomar un ataque y reformularlo como pregunta constructiva.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5994401" y="6541728"/>
            <a:ext cx="4712400" cy="1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-13970" lvl="0" marL="26034" marR="5080" rtl="0" algn="just">
              <a:lnSpc>
                <a:spcPct val="9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Empatía Estratégica: Validar sentimientos para desarmar defensas, sin conceder posición.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11709400" y="3810000"/>
            <a:ext cx="3816350" cy="21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16510" lvl="0" marL="28575" marR="5080" rtl="0" algn="l">
              <a:lnSpc>
                <a:spcPct val="8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Logrolling: Intercambio de concesiones asimétricas (ceder en lo barato para ti, valioso para el otro).</a:t>
            </a:r>
            <a:endParaRPr sz="3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11709400" y="6541728"/>
            <a:ext cx="4001135" cy="17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-16510" lvl="0" marL="28575" marR="5080" rtl="0" algn="l">
              <a:lnSpc>
                <a:spcPct val="8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Lluvia de Ideas: Generación de opciones sin filtro de evaluación prematura.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16116121" y="9422341"/>
            <a:ext cx="122745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 NotebaokLM</a:t>
            </a:r>
            <a:endParaRPr sz="145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descr="$PPTXTitle" id="326" name="Google Shape;326;p14"/>
          <p:cNvSpPr txBox="1"/>
          <p:nvPr/>
        </p:nvSpPr>
        <p:spPr>
          <a:xfrm>
            <a:off x="840316" y="1176063"/>
            <a:ext cx="13480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12494" marR="0" rtl="0" algn="l">
              <a:lnSpc>
                <a:spcPct val="293035"/>
              </a:lnSpc>
              <a:spcBef>
                <a:spcPts val="0"/>
              </a:spcBef>
              <a:spcAft>
                <a:spcPts val="0"/>
              </a:spcAft>
              <a:buClr>
                <a:srgbClr val="163C3F"/>
              </a:buClr>
              <a:buSzPts val="2800"/>
              <a:buFont typeface="Century Gothic"/>
              <a:buNone/>
            </a:pPr>
            <a:r>
              <a:rPr b="1" i="0" lang="es-AR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Nunca intentes obtener miel pateando el panal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31" name="Google Shape;331;p15"/>
          <p:cNvSpPr txBox="1"/>
          <p:nvPr>
            <p:ph type="title"/>
          </p:nvPr>
        </p:nvSpPr>
        <p:spPr>
          <a:xfrm>
            <a:off x="3075305" y="591255"/>
            <a:ext cx="11910695" cy="50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EB Garamond"/>
              <a:buNone/>
            </a:pPr>
            <a:r>
              <a:rPr lang="es-AR" sz="3200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DISCIPLINA  “LAS 6 LEYES DE ALEX DEY"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1465990" y="1814253"/>
            <a:ext cx="6486525" cy="212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5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1. </a:t>
            </a:r>
            <a:r>
              <a:rPr lang="es-AR" sz="41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Ley de la Acumulación</a:t>
            </a:r>
            <a:endParaRPr/>
          </a:p>
          <a:p>
            <a:pPr indent="-12700" lvl="0" marL="24765" marR="5080" rtl="0" algn="l">
              <a:lnSpc>
                <a:spcPct val="96875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éxito no es un evento, es la suma de prácticas y micro-negociaciones diarias.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1465990" y="4426874"/>
            <a:ext cx="7429500" cy="234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1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3. Ley de la Confianza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 credibilidad no hay trato. La empatía y el cumplimiento de promesas son el capital base.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1483660" y="6876039"/>
            <a:ext cx="6125210" cy="246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0" lvl="0" marL="20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1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5. Ley del Silencio</a:t>
            </a:r>
            <a:endParaRPr/>
          </a:p>
          <a:p>
            <a:pPr indent="-12700" lvl="0" marL="24765" marR="5080" rtl="0" algn="l">
              <a:lnSpc>
                <a:spcPct val="96875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que calla,  controla. Las pausas estratégicas obligan al oponente a revelar información o ceder.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9522687" y="1930678"/>
            <a:ext cx="6831965" cy="7194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400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1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2. Ley del Valor Percibido</a:t>
            </a:r>
            <a:endParaRPr/>
          </a:p>
          <a:p>
            <a:pPr indent="-12700" lvl="0" marL="24765" marR="5080" rtl="0" algn="l">
              <a:lnSpc>
                <a:spcPct val="96875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gente no compra la realidad, sino la interpretación que tiene de ella</a:t>
            </a:r>
            <a:r>
              <a:rPr lang="es-AR" sz="2900">
                <a:solidFill>
                  <a:srgbClr val="1F1F1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71475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lang="es-AR" sz="41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4. Ley de la Reciprocidad</a:t>
            </a:r>
            <a:endParaRPr/>
          </a:p>
          <a:p>
            <a:pPr indent="-12700" lvl="0" marL="24765" marR="5080" rtl="0" algn="l">
              <a:lnSpc>
                <a:spcPct val="96875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Quien concede, escucha o valida primero, obliga psicológicamente a la otra parte a corresponder.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96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s-AR" sz="4100">
                <a:solidFill>
                  <a:srgbClr val="86D1D8"/>
                </a:solidFill>
                <a:latin typeface="Lucida Sans"/>
                <a:ea typeface="Lucida Sans"/>
                <a:cs typeface="Lucida Sans"/>
                <a:sym typeface="Lucida Sans"/>
              </a:rPr>
              <a:t>6. Ley de la Paciencia</a:t>
            </a:r>
            <a:endParaRPr sz="4100">
              <a:solidFill>
                <a:srgbClr val="86D1D8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2700" lvl="0" marL="24765" marR="5080" rtl="0" algn="l">
              <a:lnSpc>
                <a:spcPct val="96875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prisa destruye acuerdos. No aceptar el primer 'si' ni claudicar ante el primer 'no'.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3200"/>
            <a:ext cx="17475200" cy="96266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41" name="Google Shape;341;p16"/>
          <p:cNvSpPr txBox="1"/>
          <p:nvPr>
            <p:ph type="title"/>
          </p:nvPr>
        </p:nvSpPr>
        <p:spPr>
          <a:xfrm>
            <a:off x="736600" y="582223"/>
            <a:ext cx="152280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5080" lvl="0" marL="12700" marR="5080" rtl="0" algn="l">
              <a:lnSpc>
                <a:spcPct val="907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5400"/>
              <a:buFont typeface="Century Gothic"/>
              <a:buNone/>
            </a:pPr>
            <a:r>
              <a:rPr lang="es-AR" sz="5400">
                <a:solidFill>
                  <a:srgbClr val="363636"/>
                </a:solidFill>
              </a:rPr>
              <a:t>El </a:t>
            </a:r>
            <a:r>
              <a:rPr lang="es-AR" sz="5400">
                <a:solidFill>
                  <a:srgbClr val="343434"/>
                </a:solidFill>
              </a:rPr>
              <a:t>Perfil </a:t>
            </a:r>
            <a:r>
              <a:rPr lang="es-AR" sz="5400">
                <a:solidFill>
                  <a:srgbClr val="3B3B3B"/>
                </a:solidFill>
              </a:rPr>
              <a:t>del negociador</a:t>
            </a:r>
            <a:endParaRPr sz="5400"/>
          </a:p>
        </p:txBody>
      </p:sp>
      <p:sp>
        <p:nvSpPr>
          <p:cNvPr id="342" name="Google Shape;342;p16"/>
          <p:cNvSpPr txBox="1"/>
          <p:nvPr/>
        </p:nvSpPr>
        <p:spPr>
          <a:xfrm>
            <a:off x="1411347" y="3657236"/>
            <a:ext cx="3821053" cy="1219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18415" rtl="0" algn="just">
              <a:lnSpc>
                <a:spcPct val="12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Asertividad comunicacional y fluides, duro con el problema suave con las personas.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11233608" y="7493949"/>
            <a:ext cx="3828592" cy="73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-2540" lvl="0" marL="14604" marR="5080" rtl="0" algn="l">
              <a:lnSpc>
                <a:spcPct val="9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Velocidad mental: Adaptación en tiempo real.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12360419" y="3734642"/>
            <a:ext cx="3215005" cy="989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12700" marR="5080" rtl="0" algn="just">
              <a:lnSpc>
                <a:spcPct val="77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Lectura y Empatía: Capacidad de percibir necesidades ocultas.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6375400" y="1295400"/>
            <a:ext cx="5029200" cy="124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524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Inteligente con cultural general -  manejo emocional: Control del ego y frustracíón no influenciable}.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2565400" y="7415276"/>
            <a:ext cx="3325495" cy="81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18415" rtl="0" algn="just">
              <a:lnSpc>
                <a:spcPct val="115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Resiliencia: capaz de actuar bajo presión sin quiebres</a:t>
            </a:r>
            <a:r>
              <a:rPr lang="es-AR" sz="27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sz="27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"/>
          <p:cNvSpPr txBox="1"/>
          <p:nvPr/>
        </p:nvSpPr>
        <p:spPr>
          <a:xfrm>
            <a:off x="5555776" y="4113333"/>
            <a:ext cx="536575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—  </a:t>
            </a:r>
            <a:r>
              <a:rPr lang="es-AR" sz="3650">
                <a:solidFill>
                  <a:srgbClr val="181818"/>
                </a:solidFill>
                <a:latin typeface="Courier New"/>
                <a:ea typeface="Courier New"/>
                <a:cs typeface="Courier New"/>
                <a:sym typeface="Courier New"/>
              </a:rPr>
              <a:t>MAHATMA  </a:t>
            </a:r>
            <a:r>
              <a:rPr lang="es-AR" sz="3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GANDHI</a:t>
            </a:r>
            <a:endParaRPr sz="36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" name="Google Shape;352;p17"/>
          <p:cNvSpPr txBox="1"/>
          <p:nvPr>
            <p:ph type="title"/>
          </p:nvPr>
        </p:nvSpPr>
        <p:spPr>
          <a:xfrm>
            <a:off x="1498600" y="1066800"/>
            <a:ext cx="13480103" cy="3623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E1A8"/>
              </a:buClr>
              <a:buSzPts val="5900"/>
              <a:buFont typeface="Algerian"/>
              <a:buNone/>
            </a:pPr>
            <a:r>
              <a:rPr b="1" lang="es-AR" sz="5500">
                <a:solidFill>
                  <a:srgbClr val="F5E1A8"/>
                </a:solidFill>
              </a:rPr>
              <a:t>“La paz no es la ausencia de conflicto, sino la capacidad de afrontarlo”</a:t>
            </a:r>
            <a:endParaRPr sz="5500"/>
          </a:p>
        </p:txBody>
      </p:sp>
      <p:pic>
        <p:nvPicPr>
          <p:cNvPr descr="C:\Users\J_SELISAMAR\Desktop\NEGOCIACION Y MEDIACION\NEG\MediadoresNegociadores de Gendarmeria Nacional\mediacion con el campo.JPG" id="353" name="Google Shape;3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6757" y="5104371"/>
            <a:ext cx="5867400" cy="3858654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:\Users\J_SELISAMAR\Desktop\NEGOCIACION Y MEDIACION\NEG\MediadoresNegociadores de Gendarmeria Nacional\mediacion conflicto campo.JPG" id="354" name="Google Shape;3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5400" y="5091119"/>
            <a:ext cx="5504737" cy="381158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2026-04-21T17:18:26Z</dcterms:created>
  <dc:creator>GRUVIALEDES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2026-04-21T00:00:00Z</vt:filetime>
  </property>
  <property fmtid="{D5CDD505-2E9C-101B-9397-08002B2CF9AE}" pid="4" name="LastSaved">
    <vt:filetime>2026-04-21T00:00:00Z</vt:filetime>
  </property>
</Properties>
</file>